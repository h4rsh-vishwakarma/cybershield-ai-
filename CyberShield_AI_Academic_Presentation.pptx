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CyberShield AI: Multi-Modal AI System for Crime Intelligence, Deepfake Detection &amp; Fake News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Submitted By: [Your Name] | Under the Guidance of: [Faculty Mentor Name]</a:t>
            </a:r>
          </a:p>
          <a:p>
            <a:r>
              <a:t>Department of Computer Science &amp; Engineering | [Institution Name] | Academic Year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Research Overview:</a:t>
            </a:r>
          </a:p>
          <a:p>
            <a:pPr>
              <a:spcAft>
                <a:spcPts val="1000"/>
              </a:spcAft>
              <a:defRPr sz="1800"/>
            </a:pPr>
            <a:r>
              <a:t>  • Comprehensive AI framework for digital threat detection</a:t>
            </a:r>
          </a:p>
          <a:p>
            <a:pPr>
              <a:spcAft>
                <a:spcPts val="1000"/>
              </a:spcAft>
              <a:defRPr sz="1800"/>
            </a:pPr>
            <a:r>
              <a:t>  • Advanced machine learning and deep learning techniques</a:t>
            </a:r>
          </a:p>
          <a:p>
            <a:pPr>
              <a:spcAft>
                <a:spcPts val="1000"/>
              </a:spcAft>
              <a:defRPr sz="1800"/>
            </a:pPr>
            <a:r>
              <a:t>  • Real-time analysis capabilities with minimal latency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Research Objectives:</a:t>
            </a:r>
          </a:p>
          <a:p>
            <a:pPr>
              <a:spcAft>
                <a:spcPts val="1000"/>
              </a:spcAft>
              <a:defRPr sz="1800"/>
            </a:pPr>
            <a:r>
              <a:t>  • Develop integrated multi-modal AI system</a:t>
            </a:r>
          </a:p>
          <a:p>
            <a:pPr>
              <a:spcAft>
                <a:spcPts val="1000"/>
              </a:spcAft>
              <a:defRPr sz="1800"/>
            </a:pPr>
            <a:r>
              <a:t>  • Implement state-of-the-art NLP and computer vision algorithms</a:t>
            </a:r>
          </a:p>
          <a:p>
            <a:pPr>
              <a:spcAft>
                <a:spcPts val="1000"/>
              </a:spcAft>
              <a:defRPr sz="1800"/>
            </a:pPr>
            <a:r>
              <a:t>  • Create real-time analysis capabilities</a:t>
            </a:r>
          </a:p>
          <a:p>
            <a:pPr>
              <a:spcAft>
                <a:spcPts val="1000"/>
              </a:spcAft>
              <a:defRPr sz="1800"/>
            </a:pPr>
            <a:r>
              <a:t>  • Provide accessible tools for combating digital threats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Technical Approach:</a:t>
            </a:r>
          </a:p>
          <a:p>
            <a:pPr>
              <a:spcAft>
                <a:spcPts val="1000"/>
              </a:spcAft>
              <a:defRPr sz="1800"/>
            </a:pPr>
            <a:r>
              <a:t>  • Multi-model ensemble learning architecture</a:t>
            </a:r>
          </a:p>
          <a:p>
            <a:pPr>
              <a:spcAft>
                <a:spcPts val="1000"/>
              </a:spcAft>
              <a:defRPr sz="1800"/>
            </a:pPr>
            <a:r>
              <a:t>  • Transfer learning with fine-tuned pre-trained models</a:t>
            </a:r>
          </a:p>
          <a:p>
            <a:pPr>
              <a:spcAft>
                <a:spcPts val="1000"/>
              </a:spcAft>
              <a:defRPr sz="1800"/>
            </a:pPr>
            <a:r>
              <a:t>  • Real-time inference optimization techniques</a:t>
            </a:r>
          </a:p>
          <a:p>
            <a:pPr>
              <a:spcAft>
                <a:spcPts val="1000"/>
              </a:spcAft>
              <a:defRPr sz="1800"/>
            </a:pPr>
            <a:r>
              <a:t>  • Comprehensive security and privacy mechanisms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- Research Background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The Digital Threat Landscape (2023-2026):</a:t>
            </a:r>
          </a:p>
          <a:p>
            <a:pPr>
              <a:spcAft>
                <a:spcPts val="1000"/>
              </a:spcAft>
              <a:defRPr sz="1800"/>
            </a:pPr>
            <a:r>
              <a:t>  • Misinformation Crisis: 70% of users encounter fake news daily</a:t>
            </a:r>
          </a:p>
          <a:p>
            <a:pPr>
              <a:spcAft>
                <a:spcPts val="1000"/>
              </a:spcAft>
              <a:defRPr sz="1800"/>
            </a:pPr>
            <a:r>
              <a:t>  • Deepfake Proliferation: 500% increase in AI-generated media</a:t>
            </a:r>
          </a:p>
          <a:p>
            <a:pPr>
              <a:spcAft>
                <a:spcPts val="1000"/>
              </a:spcAft>
              <a:defRPr sz="1800"/>
            </a:pPr>
            <a:r>
              <a:t>  • Cybercrime Evolution: Sophisticated digital crimes</a:t>
            </a:r>
          </a:p>
          <a:p>
            <a:pPr>
              <a:spcAft>
                <a:spcPts val="1000"/>
              </a:spcAft>
              <a:defRPr sz="1800"/>
            </a:pPr>
            <a:r>
              <a:t>  • Information Overload: Manual verification impossible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Research Problem Statement:</a:t>
            </a:r>
          </a:p>
          <a:p>
            <a:pPr>
              <a:spcAft>
                <a:spcPts val="1000"/>
              </a:spcAft>
              <a:defRPr sz="1800"/>
            </a:pPr>
            <a:r>
              <a:t>  'Existing digital threat detection systems are fragmented, computationally expensive, and lack real-time processing capabilities'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Research Questions:</a:t>
            </a:r>
          </a:p>
          <a:p>
            <a:pPr>
              <a:spcAft>
                <a:spcPts val="1000"/>
              </a:spcAft>
              <a:defRPr sz="1800"/>
            </a:pPr>
            <a:r>
              <a:t>  1. How can multiple AI detection modalities be effectively integrated?</a:t>
            </a:r>
          </a:p>
          <a:p>
            <a:pPr>
              <a:spcAft>
                <a:spcPts val="1000"/>
              </a:spcAft>
              <a:defRPr sz="1800"/>
            </a:pPr>
            <a:r>
              <a:t>  2. What is the optimal architecture for real-time threat analysis?</a:t>
            </a:r>
          </a:p>
          <a:p>
            <a:pPr>
              <a:spcAft>
                <a:spcPts val="1000"/>
              </a:spcAft>
              <a:defRPr sz="1800"/>
            </a:pPr>
            <a:r>
              <a:t>  3. How can detection accuracy be maintained while ensuring low latency?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Review: Fake News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Academic Research:</a:t>
            </a:r>
          </a:p>
          <a:p>
            <a:pPr>
              <a:spcAft>
                <a:spcPts val="1000"/>
              </a:spcAft>
              <a:defRPr sz="1800"/>
            </a:pPr>
            <a:r>
              <a:t>  • BERT-based Approaches (Devlin et al., 2019): State-of-the-art text classification</a:t>
            </a:r>
          </a:p>
          <a:p>
            <a:pPr>
              <a:spcAft>
                <a:spcPts val="1000"/>
              </a:spcAft>
              <a:defRPr sz="1800"/>
            </a:pPr>
            <a:r>
              <a:t>  • Multi-modal Analysis (Wang et al., 2021): Combined text and image analysis</a:t>
            </a:r>
          </a:p>
          <a:p>
            <a:pPr>
              <a:spcAft>
                <a:spcPts val="1000"/>
              </a:spcAft>
              <a:defRPr sz="1800"/>
            </a:pPr>
            <a:r>
              <a:t>  • Temporal Analysis (Shu et al., 2020): Time-series misinformation patterns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Commercial Solutions:</a:t>
            </a:r>
          </a:p>
          <a:p>
            <a:pPr>
              <a:spcAft>
                <a:spcPts val="1000"/>
              </a:spcAft>
              <a:defRPr sz="1800"/>
            </a:pPr>
            <a:r>
              <a:t>  • Google Fact Check API: Limited scope, requires manual verification</a:t>
            </a:r>
          </a:p>
          <a:p>
            <a:pPr>
              <a:spcAft>
                <a:spcPts val="1000"/>
              </a:spcAft>
              <a:defRPr sz="1800"/>
            </a:pPr>
            <a:r>
              <a:t>  • Facebook AI Systems: Proprietary, not publicly accessible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Research Gaps:</a:t>
            </a:r>
          </a:p>
          <a:p>
            <a:pPr>
              <a:spcAft>
                <a:spcPts val="1000"/>
              </a:spcAft>
              <a:defRPr sz="1800"/>
            </a:pPr>
            <a:r>
              <a:t>  • Lack of real-time processing capabilities</a:t>
            </a:r>
          </a:p>
          <a:p>
            <a:pPr>
              <a:spcAft>
                <a:spcPts val="1000"/>
              </a:spcAft>
              <a:defRPr sz="1800"/>
            </a:pPr>
            <a:r>
              <a:t>  • Limited integration with other detection modalities</a:t>
            </a:r>
          </a:p>
          <a:p>
            <a:pPr>
              <a:spcAft>
                <a:spcPts val="1000"/>
              </a:spcAft>
              <a:defRPr sz="1800"/>
            </a:pPr>
            <a:r>
              <a:t>  • High computational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Review: Deepfake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Academic Approaches:</a:t>
            </a:r>
          </a:p>
          <a:p>
            <a:pPr>
              <a:spcAft>
                <a:spcPts val="1000"/>
              </a:spcAft>
              <a:defRPr sz="1800"/>
            </a:pPr>
            <a:r>
              <a:t>  • CNN-based Detection (Afchar et al., 2018): Facial feature analysis</a:t>
            </a:r>
          </a:p>
          <a:p>
            <a:pPr>
              <a:spcAft>
                <a:spcPts val="1000"/>
              </a:spcAft>
              <a:defRPr sz="1800"/>
            </a:pPr>
            <a:r>
              <a:t>  • Temporal Consistency (Sabir et al., 2019): Video sequence analysis</a:t>
            </a:r>
          </a:p>
          <a:p>
            <a:pPr>
              <a:spcAft>
                <a:spcPts val="1000"/>
              </a:spcAft>
              <a:defRPr sz="1800"/>
            </a:pPr>
            <a:r>
              <a:t>  • Frequency Domain Analysis (Dolhansky et al., 2020): FFT-based detection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Benchmark Datasets:</a:t>
            </a:r>
          </a:p>
          <a:p>
            <a:pPr>
              <a:spcAft>
                <a:spcPts val="1000"/>
              </a:spcAft>
              <a:defRPr sz="1800"/>
            </a:pPr>
            <a:r>
              <a:t>  • FaceForensics++ (Rössler et al., 2019): 5,000 videos</a:t>
            </a:r>
          </a:p>
          <a:p>
            <a:pPr>
              <a:spcAft>
                <a:spcPts val="1000"/>
              </a:spcAft>
              <a:defRPr sz="1800"/>
            </a:pPr>
            <a:r>
              <a:t>  • DeepFakeDetection Challenge (2019): 363,942 video clips</a:t>
            </a:r>
          </a:p>
          <a:p>
            <a:pPr>
              <a:spcAft>
                <a:spcPts val="1000"/>
              </a:spcAft>
              <a:defRPr sz="1800"/>
            </a:pPr>
            <a:r>
              <a:t>  • Celeb-DF (Li et al., 2020): 6,229 high-quality videos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Current Limitations:</a:t>
            </a:r>
          </a:p>
          <a:p>
            <a:pPr>
              <a:spcAft>
                <a:spcPts val="1000"/>
              </a:spcAft>
              <a:defRPr sz="1800"/>
            </a:pPr>
            <a:r>
              <a:t>  • Detection accuracy degrades with new generation techniques</a:t>
            </a:r>
          </a:p>
          <a:p>
            <a:pPr>
              <a:spcAft>
                <a:spcPts val="1000"/>
              </a:spcAft>
              <a:defRPr sz="1800"/>
            </a:pPr>
            <a:r>
              <a:t>  • Real-time processing challenges (&gt;5 seconds per video)</a:t>
            </a:r>
          </a:p>
          <a:p>
            <a:pPr>
              <a:spcAft>
                <a:spcPts val="1000"/>
              </a:spcAft>
              <a:defRPr sz="1800"/>
            </a:pPr>
            <a:r>
              <a:t>  • Limited generalization across different deepfake methods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Review: Crime Prediction &amp; Surveillance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Crime Prediction Models:</a:t>
            </a:r>
          </a:p>
          <a:p>
            <a:pPr>
              <a:spcAft>
                <a:spcPts val="1000"/>
              </a:spcAft>
              <a:defRPr sz="1800"/>
            </a:pPr>
            <a:r>
              <a:t>  • Spatial-Temporal Analysis (Wang et al., 2017): Location and time patterns</a:t>
            </a:r>
          </a:p>
          <a:p>
            <a:pPr>
              <a:spcAft>
                <a:spcPts val="1000"/>
              </a:spcAft>
              <a:defRPr sz="1800"/>
            </a:pPr>
            <a:r>
              <a:t>  • Machine Learning Approaches (Catlett et al., 2019): Random Forest, XGBoost</a:t>
            </a:r>
          </a:p>
          <a:p>
            <a:pPr>
              <a:spcAft>
                <a:spcPts val="1000"/>
              </a:spcAft>
              <a:defRPr sz="1800"/>
            </a:pPr>
            <a:r>
              <a:t>  • Deep Learning Models (Zhang et al., 2021): LSTM for temporal patterns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Surveillance Systems:</a:t>
            </a:r>
          </a:p>
          <a:p>
            <a:pPr>
              <a:spcAft>
                <a:spcPts val="1000"/>
              </a:spcAft>
              <a:defRPr sz="1800"/>
            </a:pPr>
            <a:r>
              <a:t>  • YOLO-based Detection (Redmon et al., 2016): Real-time object detection</a:t>
            </a:r>
          </a:p>
          <a:p>
            <a:pPr>
              <a:spcAft>
                <a:spcPts val="1000"/>
              </a:spcAft>
              <a:defRPr sz="1800"/>
            </a:pPr>
            <a:r>
              <a:t>  • Behavioral Analysis (Poppe, 2010): Activity recognition</a:t>
            </a:r>
          </a:p>
          <a:p>
            <a:pPr>
              <a:spcAft>
                <a:spcPts val="1000"/>
              </a:spcAft>
              <a:defRPr sz="1800"/>
            </a:pPr>
            <a:r>
              <a:t>  • Crowd Analysis (Zhan et al., 2008): Density estimation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Current Challenges:</a:t>
            </a:r>
          </a:p>
          <a:p>
            <a:pPr>
              <a:spcAft>
                <a:spcPts val="1000"/>
              </a:spcAft>
              <a:defRPr sz="1800"/>
            </a:pPr>
            <a:r>
              <a:t>  • Privacy concerns and ethical considerations</a:t>
            </a:r>
          </a:p>
          <a:p>
            <a:pPr>
              <a:spcAft>
                <a:spcPts val="1000"/>
              </a:spcAft>
              <a:defRPr sz="1800"/>
            </a:pPr>
            <a:r>
              <a:t>  • High false positive rates</a:t>
            </a:r>
          </a:p>
          <a:p>
            <a:pPr>
              <a:spcAft>
                <a:spcPts val="1000"/>
              </a:spcAft>
              <a:defRPr sz="1800"/>
            </a:pPr>
            <a:r>
              <a:t>  • Computational complexity</a:t>
            </a:r>
          </a:p>
          <a:p>
            <a:pPr>
              <a:spcAft>
                <a:spcPts val="1000"/>
              </a:spcAft>
              <a:defRPr sz="1800"/>
            </a:pPr>
            <a:r>
              <a:t>  • Limited real-time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│                    USER INTERFACE LAYER                     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│              (React.js + Tailwind CSS + WebSocket)          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└────────────────────────┬────────────────────────────────────┘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                         │ REST API + WebSocket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┌────────────────────────┴────────────────────────────────────┐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│                   API GATEWAY LAYER                         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│              (Express.js + Authentication + Routing)         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└────────────────────────┬────────────────────────────────────┘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                         │ Service Communication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┌────────────────────────┴────────────────────────────────────┐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│                  MICROSERVICES LAYER                        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│  Fake News Service | Deepfake Service | Crime Service      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└────────────────────────┬────────────────────────────────────┘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                        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┌────────────────────────┴────────────────────────────────────┐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│                   AI MODEL LAYER                            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│  BERT | EfficientNet | XGBoost | YOLOv8 | OpenCV Models    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└────────────────────────┬────────────────────────────────────┘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                        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┌────────────────────────┴────────────────────────────────────┐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│                   DATA LAYER                                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│   MongoDB | Redis Cache | File Storage | Model Registry    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Fake News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Algorithm Selection: BERT Model</a:t>
            </a:r>
          </a:p>
          <a:p>
            <a:pPr>
              <a:spcAft>
                <a:spcPts val="1000"/>
              </a:spcAft>
              <a:defRPr sz="1800"/>
            </a:pPr>
            <a:r>
              <a:t>  • Base Model: BERT-base-uncased (12 layers, 768 hidden, 110M parameters)</a:t>
            </a:r>
          </a:p>
          <a:p>
            <a:pPr>
              <a:spcAft>
                <a:spcPts val="1000"/>
              </a:spcAft>
              <a:defRPr sz="1800"/>
            </a:pPr>
            <a:r>
              <a:t>  • Fine-tuning: Domain-specific adaptation on news datasets</a:t>
            </a:r>
          </a:p>
          <a:p>
            <a:pPr>
              <a:spcAft>
                <a:spcPts val="1000"/>
              </a:spcAft>
              <a:defRPr sz="1800"/>
            </a:pPr>
            <a:r>
              <a:t>  • Preprocessing: Text cleaning, tokenization, sequence padding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Processing Pipeline:</a:t>
            </a:r>
          </a:p>
          <a:p>
            <a:pPr>
              <a:spcAft>
                <a:spcPts val="1000"/>
              </a:spcAft>
              <a:defRPr sz="1800"/>
            </a:pPr>
            <a:r>
              <a:t>  Input Text → Tokenization → BERT Embeddings →</a:t>
            </a:r>
          </a:p>
          <a:p>
            <a:pPr>
              <a:spcAft>
                <a:spcPts val="1000"/>
              </a:spcAft>
              <a:defRPr sz="1800"/>
            </a:pPr>
            <a:r>
              <a:t>  Attention Mechanism → Classification Head →</a:t>
            </a:r>
          </a:p>
          <a:p>
            <a:pPr>
              <a:spcAft>
                <a:spcPts val="1000"/>
              </a:spcAft>
              <a:defRPr sz="1800"/>
            </a:pPr>
            <a:r>
              <a:t>  Real/Fake Prediction + Confidence Score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Dataset Utilization:</a:t>
            </a:r>
          </a:p>
          <a:p>
            <a:pPr>
              <a:spcAft>
                <a:spcPts val="1000"/>
              </a:spcAft>
              <a:defRPr sz="1800"/>
            </a:pPr>
            <a:r>
              <a:t>  • FakeNewsNet: 126,826 news articles</a:t>
            </a:r>
          </a:p>
          <a:p>
            <a:pPr>
              <a:spcAft>
                <a:spcPts val="1000"/>
              </a:spcAft>
              <a:defRPr sz="1800"/>
            </a:pPr>
            <a:r>
              <a:t>  • LIAR Dataset: 12,836 labeled statements</a:t>
            </a:r>
          </a:p>
          <a:p>
            <a:pPr>
              <a:spcAft>
                <a:spcPts val="1000"/>
              </a:spcAft>
              <a:defRPr sz="1800"/>
            </a:pPr>
            <a:r>
              <a:t>  • Custom Dataset: Real-time news aggregation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Performance Metrics:</a:t>
            </a:r>
          </a:p>
          <a:p>
            <a:pPr>
              <a:spcAft>
                <a:spcPts val="1000"/>
              </a:spcAft>
              <a:defRPr sz="1800"/>
            </a:pPr>
            <a:r>
              <a:t>  • Accuracy, Precision, Recall, F1-Score</a:t>
            </a:r>
          </a:p>
          <a:p>
            <a:pPr>
              <a:spcAft>
                <a:spcPts val="1000"/>
              </a:spcAft>
              <a:defRPr sz="1800"/>
            </a:pPr>
            <a:r>
              <a:t>  • Expected: 85-90% accuracy, &lt;2 seconds inference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Deepfake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Multi-Stage Detection Pipeline:</a:t>
            </a:r>
          </a:p>
          <a:p>
            <a:pPr>
              <a:spcAft>
                <a:spcPts val="1000"/>
              </a:spcAft>
              <a:defRPr sz="1800"/>
            </a:pPr>
            <a:r>
              <a:t>  Stage 1: Frame Extraction → Face Detection → Alignment</a:t>
            </a:r>
          </a:p>
          <a:p>
            <a:pPr>
              <a:spcAft>
                <a:spcPts val="1000"/>
              </a:spcAft>
              <a:defRPr sz="1800"/>
            </a:pPr>
            <a:r>
              <a:t>  Stage 2: Spatial + Temporal + Frequency Features</a:t>
            </a:r>
          </a:p>
          <a:p>
            <a:pPr>
              <a:spcAft>
                <a:spcPts val="1000"/>
              </a:spcAft>
              <a:defRPr sz="1800"/>
            </a:pPr>
            <a:r>
              <a:t>  Stage 3: Ensemble Classification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Technical Implementation:</a:t>
            </a:r>
          </a:p>
          <a:p>
            <a:pPr>
              <a:spcAft>
                <a:spcPts val="1000"/>
              </a:spcAft>
              <a:defRPr sz="1800"/>
            </a:pPr>
            <a:r>
              <a:t>  • Primary Model: EfficientNet-B4 (transfer learning)</a:t>
            </a:r>
          </a:p>
          <a:p>
            <a:pPr>
              <a:spcAft>
                <a:spcPts val="1000"/>
              </a:spcAft>
              <a:defRPr sz="1800"/>
            </a:pPr>
            <a:r>
              <a:t>  • Secondary Model: Vision Transformer (ViT)</a:t>
            </a:r>
          </a:p>
          <a:p>
            <a:pPr>
              <a:spcAft>
                <a:spcPts val="1000"/>
              </a:spcAft>
              <a:defRPr sz="1800"/>
            </a:pPr>
            <a:r>
              <a:t>  • Framework: PyTorch with CUDA acceleration</a:t>
            </a:r>
          </a:p>
          <a:p>
            <a:pPr>
              <a:spcAft>
                <a:spcPts val="1000"/>
              </a:spcAft>
              <a:defRPr sz="1800"/>
            </a:pPr>
            <a:r>
              <a:t>  • Preprocessing: 224×224 RGB images, normalization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Dataset Utilization:</a:t>
            </a:r>
          </a:p>
          <a:p>
            <a:pPr>
              <a:spcAft>
                <a:spcPts val="1000"/>
              </a:spcAft>
              <a:defRPr sz="1800"/>
            </a:pPr>
            <a:r>
              <a:t>  • FaceForensics++: 5,000 videos</a:t>
            </a:r>
          </a:p>
          <a:p>
            <a:pPr>
              <a:spcAft>
                <a:spcPts val="1000"/>
              </a:spcAft>
              <a:defRPr sz="1800"/>
            </a:pPr>
            <a:r>
              <a:t>  • DeepFakeDetection: 363,942 video clips</a:t>
            </a:r>
          </a:p>
          <a:p>
            <a:pPr>
              <a:spcAft>
                <a:spcPts val="1000"/>
              </a:spcAft>
              <a:defRPr sz="1800"/>
            </a:pPr>
            <a:r>
              <a:t>  • Celeb-DF: 6,229 high-quality videos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Expected Performance:</a:t>
            </a:r>
          </a:p>
          <a:p>
            <a:pPr>
              <a:spcAft>
                <a:spcPts val="1000"/>
              </a:spcAft>
              <a:defRPr sz="1800"/>
            </a:pPr>
            <a:r>
              <a:t>  • 90-95% accuracy, &lt;3 seconds per video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Crime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Feature Engineering:</a:t>
            </a:r>
          </a:p>
          <a:p>
            <a:pPr>
              <a:spcAft>
                <a:spcPts val="1000"/>
              </a:spcAft>
              <a:defRPr sz="1800"/>
            </a:pPr>
            <a:r>
              <a:t>  Location: {latitude, longitude, area_type, population_density}</a:t>
            </a:r>
          </a:p>
          <a:p>
            <a:pPr>
              <a:spcAft>
                <a:spcPts val="1000"/>
              </a:spcAft>
              <a:defRPr sz="1800"/>
            </a:pPr>
            <a:r>
              <a:t>  Temporal: {hour, day, month, season, holiday_indicator}</a:t>
            </a:r>
          </a:p>
          <a:p>
            <a:pPr>
              <a:spcAft>
                <a:spcPts val="1000"/>
              </a:spcAft>
              <a:defRPr sz="1800"/>
            </a:pPr>
            <a:r>
              <a:t>  Historical: {crime_count_lag7, crime_trend_30d, seasonality}</a:t>
            </a:r>
          </a:p>
          <a:p>
            <a:pPr>
              <a:spcAft>
                <a:spcPts val="1000"/>
              </a:spcAft>
              <a:defRPr sz="1800"/>
            </a:pPr>
            <a:r>
              <a:t>  Environmental: {weather, lighting, urban_index}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Model Architecture:</a:t>
            </a:r>
          </a:p>
          <a:p>
            <a:pPr>
              <a:spcAft>
                <a:spcPts val="1000"/>
              </a:spcAft>
              <a:defRPr sz="1800"/>
            </a:pPr>
            <a:r>
              <a:t>  • Primary Model: XGBoost (Gradient Boosting)</a:t>
            </a:r>
          </a:p>
          <a:p>
            <a:pPr>
              <a:spcAft>
                <a:spcPts val="1000"/>
              </a:spcAft>
              <a:defRPr sz="1800"/>
            </a:pPr>
            <a:r>
              <a:t>  • Secondary Model: Random Forest (Ensemble)</a:t>
            </a:r>
          </a:p>
          <a:p>
            <a:pPr>
              <a:spcAft>
                <a:spcPts val="1000"/>
              </a:spcAft>
              <a:defRPr sz="1800"/>
            </a:pPr>
            <a:r>
              <a:t>  • Meta-learner: Logistic Regression (Stacking)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Technical Implementation:</a:t>
            </a:r>
          </a:p>
          <a:p>
            <a:pPr>
              <a:spcAft>
                <a:spcPts val="1000"/>
              </a:spcAft>
              <a:defRPr sz="1800"/>
            </a:pPr>
            <a:r>
              <a:t>  Data Preprocessing → Feature Engineering →</a:t>
            </a:r>
          </a:p>
          <a:p>
            <a:pPr>
              <a:spcAft>
                <a:spcPts val="1000"/>
              </a:spcAft>
              <a:defRPr sz="1800"/>
            </a:pPr>
            <a:r>
              <a:t>  Model Training (Cross-Validation) →</a:t>
            </a:r>
          </a:p>
          <a:p>
            <a:pPr>
              <a:spcAft>
                <a:spcPts val="1000"/>
              </a:spcAft>
              <a:defRPr sz="1800"/>
            </a:pPr>
            <a:r>
              <a:t>  Hyperparameter Tuning → Model Evaluation → Deployment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Expected Performance:</a:t>
            </a:r>
          </a:p>
          <a:p>
            <a:pPr>
              <a:spcAft>
                <a:spcPts val="1000"/>
              </a:spcAft>
              <a:defRPr sz="1800"/>
            </a:pPr>
            <a:r>
              <a:t>  • Hotspot prediction accuracy: 80-85%</a:t>
            </a:r>
          </a:p>
          <a:p>
            <a:pPr>
              <a:spcAft>
                <a:spcPts val="1000"/>
              </a:spcAft>
              <a:defRPr sz="1800"/>
            </a:pPr>
            <a:r>
              <a:t>  • Risk score MAE: &lt;0.15</a:t>
            </a:r>
          </a:p>
          <a:p>
            <a:pPr>
              <a:spcAft>
                <a:spcPts val="1000"/>
              </a:spcAft>
              <a:defRPr sz="1800"/>
            </a:pPr>
            <a:r>
              <a:t>  • Processing time: &lt;1 second per location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Smart Surveillance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YOLOv8-Based Surveillance System:</a:t>
            </a:r>
          </a:p>
          <a:p>
            <a:pPr>
              <a:spcAft>
                <a:spcPts val="1000"/>
              </a:spcAft>
              <a:defRPr sz="1800"/>
            </a:pPr>
            <a:r>
              <a:t>  CCTV Feed → Frame Capture (30 fps) →</a:t>
            </a:r>
          </a:p>
          <a:p>
            <a:pPr>
              <a:spcAft>
                <a:spcPts val="1000"/>
              </a:spcAft>
              <a:defRPr sz="1800"/>
            </a:pPr>
            <a:r>
              <a:t>  YOLOv8 Inference → Object Detection →</a:t>
            </a:r>
          </a:p>
          <a:p>
            <a:pPr>
              <a:spcAft>
                <a:spcPts val="1000"/>
              </a:spcAft>
              <a:defRPr sz="1800"/>
            </a:pPr>
            <a:r>
              <a:t>  Activity Classification → Threat Assessment → Alert Generation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Detection Capabilities:</a:t>
            </a:r>
          </a:p>
          <a:p>
            <a:pPr>
              <a:spcAft>
                <a:spcPts val="1000"/>
              </a:spcAft>
              <a:defRPr sz="1800"/>
            </a:pPr>
            <a:r>
              <a:t>  • Object Detection: Person, weapon, vehicle, suspicious object</a:t>
            </a:r>
          </a:p>
          <a:p>
            <a:pPr>
              <a:spcAft>
                <a:spcPts val="1000"/>
              </a:spcAft>
              <a:defRPr sz="1800"/>
            </a:pPr>
            <a:r>
              <a:t>  • Activity Recognition: Fighting, vandalism, loitering, crowd formation</a:t>
            </a:r>
          </a:p>
          <a:p>
            <a:pPr>
              <a:spcAft>
                <a:spcPts val="1000"/>
              </a:spcAft>
              <a:defRPr sz="1800"/>
            </a:pPr>
            <a:r>
              <a:t>  • Behavioral Analysis: Abnormal movement patterns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Technical Implementation:</a:t>
            </a:r>
          </a:p>
          <a:p>
            <a:pPr>
              <a:spcAft>
                <a:spcPts val="1000"/>
              </a:spcAft>
              <a:defRPr sz="1800"/>
            </a:pPr>
            <a:r>
              <a:t>  • Model: YOLOv8-L (Large) for optimal accuracy/speed</a:t>
            </a:r>
          </a:p>
          <a:p>
            <a:pPr>
              <a:spcAft>
                <a:spcPts val="1000"/>
              </a:spcAft>
              <a:defRPr sz="1800"/>
            </a:pPr>
            <a:r>
              <a:t>  • Framework: PyTorch with TensorRT optimization</a:t>
            </a:r>
          </a:p>
          <a:p>
            <a:pPr>
              <a:spcAft>
                <a:spcPts val="1000"/>
              </a:spcAft>
              <a:defRPr sz="1800"/>
            </a:pPr>
            <a:r>
              <a:t>  • Model Quantization: FP16 inference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Expected Performance:</a:t>
            </a:r>
          </a:p>
          <a:p>
            <a:pPr>
              <a:spcAft>
                <a:spcPts val="1000"/>
              </a:spcAft>
              <a:defRPr sz="1800"/>
            </a:pPr>
            <a:r>
              <a:t>  • Detection accuracy: 85-90%</a:t>
            </a:r>
          </a:p>
          <a:p>
            <a:pPr>
              <a:spcAft>
                <a:spcPts val="1000"/>
              </a:spcAft>
              <a:defRPr sz="1800"/>
            </a:pPr>
            <a:r>
              <a:t>  • Inference speed: 15-30 fps</a:t>
            </a:r>
          </a:p>
          <a:p>
            <a:pPr>
              <a:spcAft>
                <a:spcPts val="1000"/>
              </a:spcAft>
              <a:defRPr sz="1800"/>
            </a:pPr>
            <a:r>
              <a:t>  • Alert latency: &lt;2 seconds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Integration &amp; Security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Integration Strategy:</a:t>
            </a:r>
          </a:p>
          <a:p>
            <a:pPr>
              <a:spcAft>
                <a:spcPts val="1000"/>
              </a:spcAft>
              <a:defRPr sz="1800"/>
            </a:pPr>
            <a:r>
              <a:t>  User Request → API Gateway → Service Discovery →</a:t>
            </a:r>
          </a:p>
          <a:p>
            <a:pPr>
              <a:spcAft>
                <a:spcPts val="1000"/>
              </a:spcAft>
              <a:defRPr sz="1800"/>
            </a:pPr>
            <a:r>
              <a:t>  Load Balancing → Microservice → Database/API → Response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Security Implementation:</a:t>
            </a:r>
          </a:p>
          <a:p>
            <a:pPr>
              <a:spcAft>
                <a:spcPts val="1000"/>
              </a:spcAft>
              <a:defRPr sz="1800"/>
            </a:pPr>
            <a:r>
              <a:t>  • Authentication: JWT tokens with refresh mechanism</a:t>
            </a:r>
          </a:p>
          <a:p>
            <a:pPr>
              <a:spcAft>
                <a:spcPts val="1000"/>
              </a:spcAft>
              <a:defRPr sz="1800"/>
            </a:pPr>
            <a:r>
              <a:t>  • Authorization: Role-based access control (RBAC)</a:t>
            </a:r>
          </a:p>
          <a:p>
            <a:pPr>
              <a:spcAft>
                <a:spcPts val="1000"/>
              </a:spcAft>
              <a:defRPr sz="1800"/>
            </a:pPr>
            <a:r>
              <a:t>  • Encryption: AES-256 for data at rest, TLS 1.3 for transmission</a:t>
            </a:r>
          </a:p>
          <a:p>
            <a:pPr>
              <a:spcAft>
                <a:spcPts val="1000"/>
              </a:spcAft>
              <a:defRPr sz="1800"/>
            </a:pPr>
            <a:r>
              <a:t>  • Input Validation: OWASP validation patterns</a:t>
            </a:r>
          </a:p>
          <a:p>
            <a:pPr>
              <a:spcAft>
                <a:spcPts val="1000"/>
              </a:spcAft>
              <a:defRPr sz="1800"/>
            </a:pPr>
            <a:r>
              <a:t>  • Rate Limiting: Token bucket algorithm (100 req/min)</a:t>
            </a:r>
          </a:p>
          <a:p>
            <a:pPr>
              <a:spcAft>
                <a:spcPts val="1000"/>
              </a:spcAft>
              <a:defRPr sz="1800"/>
            </a:pPr>
            <a:r>
              <a:t>  • Audit Logging: Comprehensive activity tracking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Data Privacy Measures:</a:t>
            </a:r>
          </a:p>
          <a:p>
            <a:pPr>
              <a:spcAft>
                <a:spcPts val="1000"/>
              </a:spcAft>
              <a:defRPr sz="1800"/>
            </a:pPr>
            <a:r>
              <a:t>  • GDPR Compliance: User consent, right to deletion</a:t>
            </a:r>
          </a:p>
          <a:p>
            <a:pPr>
              <a:spcAft>
                <a:spcPts val="1000"/>
              </a:spcAft>
              <a:defRPr sz="1800"/>
            </a:pPr>
            <a:r>
              <a:t>  • Data Anonymization: Personal data masking</a:t>
            </a:r>
          </a:p>
          <a:p>
            <a:pPr>
              <a:spcAft>
                <a:spcPts val="1000"/>
              </a:spcAft>
              <a:defRPr sz="1800"/>
            </a:pPr>
            <a:r>
              <a:t>  • Secure Storage: Encrypted databases</a:t>
            </a:r>
          </a:p>
          <a:p>
            <a:pPr>
              <a:spcAft>
                <a:spcPts val="1000"/>
              </a:spcAft>
              <a:defRPr sz="1800"/>
            </a:pPr>
            <a:r>
              <a:t>  • Privacy-Preserving AI: Federated learning options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Local Development Environment:</a:t>
            </a:r>
          </a:p>
          <a:p>
            <a:pPr>
              <a:spcAft>
                <a:spcPts val="600"/>
              </a:spcAft>
              <a:defRPr sz="1600"/>
            </a:pPr>
            <a:r>
              <a:t>  • Hardware: Laptop with 16GB RAM, NVIDIA GPU</a:t>
            </a:r>
          </a:p>
          <a:p>
            <a:pPr>
              <a:spcAft>
                <a:spcPts val="600"/>
              </a:spcAft>
              <a:defRPr sz="1600"/>
            </a:pPr>
            <a:r>
              <a:t>  • Software: Python 3.9+, Node.js 18+, MongoDB</a:t>
            </a:r>
          </a:p>
          <a:p>
            <a:pPr>
              <a:spcAft>
                <a:spcPts val="600"/>
              </a:spcAft>
              <a:defRPr sz="1600"/>
            </a:pPr>
            <a:r>
              <a:t>  • Testing: Unit testing, Integration testing</a:t>
            </a:r>
          </a:p>
          <a:p>
            <a:pPr>
              <a:spcAft>
                <a:spcPts val="600"/>
              </a:spcAft>
              <a:defRPr sz="1600"/>
            </a:pPr>
            <a:r>
              <a:t>  • Tools: Jest, PyTest, Postman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AWS Production Environment:</a:t>
            </a:r>
          </a:p>
          <a:p>
            <a:pPr>
              <a:spcAft>
                <a:spcPts val="600"/>
              </a:spcAft>
              <a:defRPr sz="1600"/>
            </a:pPr>
            <a:r>
              <a:t>  • EC2 Instance: t3.xlarge (4 vCPU, 16GB RAM)</a:t>
            </a:r>
          </a:p>
          <a:p>
            <a:pPr>
              <a:spcAft>
                <a:spcPts val="600"/>
              </a:spcAft>
              <a:defRPr sz="1600"/>
            </a:pPr>
            <a:r>
              <a:t>  • Storage: 50GB SSD, elastic block storage</a:t>
            </a:r>
          </a:p>
          <a:p>
            <a:pPr>
              <a:spcAft>
                <a:spcPts val="600"/>
              </a:spcAft>
              <a:defRPr sz="1600"/>
            </a:pPr>
            <a:r>
              <a:t>  • Database: MongoDB Atlas (M30 tier)</a:t>
            </a:r>
          </a:p>
          <a:p>
            <a:pPr>
              <a:spcAft>
                <a:spcPts val="600"/>
              </a:spcAft>
              <a:defRPr sz="1600"/>
            </a:pPr>
            <a:r>
              <a:t>  • Monitoring: CloudWatch, Prometheus, Grafana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Deployment Pipeline:</a:t>
            </a:r>
          </a:p>
          <a:p>
            <a:pPr>
              <a:spcAft>
                <a:spcPts val="600"/>
              </a:spcAft>
              <a:defRPr sz="1600"/>
            </a:pPr>
            <a:r>
              <a:t>  Development → Git Repository →</a:t>
            </a:r>
          </a:p>
          <a:p>
            <a:pPr>
              <a:spcAft>
                <a:spcPts val="600"/>
              </a:spcAft>
              <a:defRPr sz="1600"/>
            </a:pPr>
            <a:r>
              <a:t>  CI/CD Pipeline → Docker Build →</a:t>
            </a:r>
          </a:p>
          <a:p>
            <a:pPr>
              <a:spcAft>
                <a:spcPts val="600"/>
              </a:spcAft>
              <a:defRPr sz="1600"/>
            </a:pPr>
            <a:r>
              <a:t>  AWS Deployment → Automated Testing →</a:t>
            </a:r>
          </a:p>
          <a:p>
            <a:pPr>
              <a:spcAft>
                <a:spcPts val="600"/>
              </a:spcAft>
              <a:defRPr sz="1600"/>
            </a:pPr>
            <a:r>
              <a:t>  Production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Testing Framework:</a:t>
            </a:r>
          </a:p>
          <a:p>
            <a:pPr>
              <a:spcAft>
                <a:spcPts val="600"/>
              </a:spcAft>
              <a:defRPr sz="1600"/>
            </a:pPr>
            <a:r>
              <a:t>  • Unit Testing: 90%+ code coverage</a:t>
            </a:r>
          </a:p>
          <a:p>
            <a:pPr>
              <a:spcAft>
                <a:spcPts val="600"/>
              </a:spcAft>
              <a:defRPr sz="1600"/>
            </a:pPr>
            <a:r>
              <a:t>  • Integration Testing: API endpoint validation</a:t>
            </a:r>
          </a:p>
          <a:p>
            <a:pPr>
              <a:spcAft>
                <a:spcPts val="600"/>
              </a:spcAft>
              <a:defRPr sz="1600"/>
            </a:pPr>
            <a:r>
              <a:t>  • Performance Testing: Load testing 1000+ users</a:t>
            </a:r>
          </a:p>
          <a:p>
            <a:pPr>
              <a:spcAft>
                <a:spcPts val="600"/>
              </a:spcAft>
              <a:defRPr sz="1600"/>
            </a:pPr>
            <a:r>
              <a:t>  • Security Testing: OWASP ZAP penetration testing</a:t>
            </a:r>
          </a:p>
          <a:p>
            <a:pPr>
              <a:spcAft>
                <a:spcPts val="600"/>
              </a:spcAft>
              <a:defRPr sz="1600"/>
            </a:pPr>
            <a:r>
              <a:t>  • User Testing: A/B testing, usability studies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Quality Assurance:</a:t>
            </a:r>
          </a:p>
          <a:p>
            <a:pPr>
              <a:spcAft>
                <a:spcPts val="600"/>
              </a:spcAft>
              <a:defRPr sz="1600"/>
            </a:pPr>
            <a:r>
              <a:t>  • Continuous Integration</a:t>
            </a:r>
          </a:p>
          <a:p>
            <a:pPr>
              <a:spcAft>
                <a:spcPts val="600"/>
              </a:spcAft>
              <a:defRPr sz="1600"/>
            </a:pPr>
            <a:r>
              <a:t>  • Automated testing pipelines</a:t>
            </a:r>
          </a:p>
          <a:p>
            <a:pPr>
              <a:spcAft>
                <a:spcPts val="600"/>
              </a:spcAft>
              <a:defRPr sz="1600"/>
            </a:pPr>
            <a:r>
              <a:t>  • Performance benchmarking</a:t>
            </a:r>
          </a:p>
          <a:p>
            <a:pPr>
              <a:spcAft>
                <a:spcPts val="600"/>
              </a:spcAft>
              <a:defRPr sz="1600"/>
            </a:pPr>
            <a:r>
              <a:t>  • Security audits</a:t>
            </a:r>
          </a:p>
          <a:p>
            <a:pPr>
              <a:spcAft>
                <a:spcPts val="600"/>
              </a:spcAft>
              <a:defRPr sz="1600"/>
            </a:pPr>
            <a:r>
              <a:t>  • User feedback loops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Expected Performance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Metrics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Fake News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85-90%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&lt;2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Precision: 0.85-0.90, Recall: 0.82-0.88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Deepfake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90-95%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&lt;3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Detection Rate: 92%, False Positive: &lt;5%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Crime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80-85%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&lt;1 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Hotspot Accuracy: 80-85%, Risk MAE: &lt;0.15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Surveillance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85-90%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15-30 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 Latency: &lt;2 seconds, False Positive: &lt;8%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Comparison with Existing Systems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Fake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Deepfake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Crime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Real-time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Integration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CyberShield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85-90%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90-95%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80-85%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Google Fact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70-75%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Limited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Microsoft Video Authenticator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85-90%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Single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Predictive Policing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70-75%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Single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Traditional Surveillance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Limited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Considerations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Ethical Considerations:</a:t>
            </a:r>
          </a:p>
          <a:p>
            <a:pPr>
              <a:spcAft>
                <a:spcPts val="1000"/>
              </a:spcAft>
              <a:defRPr sz="1800"/>
            </a:pPr>
            <a:r>
              <a:t>  • Privacy Protection: GDPR compliance, data anonymization</a:t>
            </a:r>
          </a:p>
          <a:p>
            <a:pPr>
              <a:spcAft>
                <a:spcPts val="1000"/>
              </a:spcAft>
              <a:defRPr sz="1800"/>
            </a:pPr>
            <a:r>
              <a:t>  • Bias Mitigation: Fairness-aware AI models</a:t>
            </a:r>
          </a:p>
          <a:p>
            <a:pPr>
              <a:spcAft>
                <a:spcPts val="1000"/>
              </a:spcAft>
              <a:defRPr sz="1800"/>
            </a:pPr>
            <a:r>
              <a:t>  • Transparency: Explainable AI features</a:t>
            </a:r>
          </a:p>
          <a:p>
            <a:pPr>
              <a:spcAft>
                <a:spcPts val="1000"/>
              </a:spcAft>
              <a:defRPr sz="1800"/>
            </a:pPr>
            <a:r>
              <a:t>  • Accountability: Audit trails and logging</a:t>
            </a:r>
          </a:p>
          <a:p>
            <a:pPr>
              <a:spcAft>
                <a:spcPts val="1000"/>
              </a:spcAft>
              <a:defRPr sz="1800"/>
            </a:pPr>
            <a:r>
              <a:t>  • Social Impact: Responsible AI deployment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Technical Limitations:</a:t>
            </a:r>
          </a:p>
          <a:p>
            <a:pPr>
              <a:spcAft>
                <a:spcPts val="1000"/>
              </a:spcAft>
              <a:defRPr sz="1800"/>
            </a:pPr>
            <a:r>
              <a:t>  • Computational Requirements: GPU dependency for optimal performance</a:t>
            </a:r>
          </a:p>
          <a:p>
            <a:pPr>
              <a:spcAft>
                <a:spcPts val="1000"/>
              </a:spcAft>
              <a:defRPr sz="1800"/>
            </a:pPr>
            <a:r>
              <a:t>  • Dataset Bias: Training data may reflect societal biases</a:t>
            </a:r>
          </a:p>
          <a:p>
            <a:pPr>
              <a:spcAft>
                <a:spcPts val="1000"/>
              </a:spcAft>
              <a:defRPr sz="1800"/>
            </a:pPr>
            <a:r>
              <a:t>  • Adversarial Attacks: Susceptible to sophisticated manipulation</a:t>
            </a:r>
          </a:p>
          <a:p>
            <a:pPr>
              <a:spcAft>
                <a:spcPts val="1000"/>
              </a:spcAft>
              <a:defRPr sz="1800"/>
            </a:pPr>
            <a:r>
              <a:t>  • False Positives: Risk of legitimate content being flagged</a:t>
            </a:r>
          </a:p>
          <a:p>
            <a:pPr>
              <a:spcAft>
                <a:spcPts val="1000"/>
              </a:spcAft>
              <a:defRPr sz="1800"/>
            </a:pPr>
            <a:r>
              <a:t>  • Scalability Challenges: Performance degradation with high load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Implementation Timeline (16 Weeks)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Phase 1: Foundation (Weeks 1-4)</a:t>
            </a:r>
          </a:p>
          <a:p>
            <a:pPr>
              <a:spcAft>
                <a:spcPts val="600"/>
              </a:spcAft>
              <a:defRPr sz="1600"/>
            </a:pPr>
            <a:r>
              <a:t>  • Week 1: Project setup, environment configuration</a:t>
            </a:r>
          </a:p>
          <a:p>
            <a:pPr>
              <a:spcAft>
                <a:spcPts val="600"/>
              </a:spcAft>
              <a:defRPr sz="1600"/>
            </a:pPr>
            <a:r>
              <a:t>  • Week 2: Basic UI, BERT model integration</a:t>
            </a:r>
          </a:p>
          <a:p>
            <a:pPr>
              <a:spcAft>
                <a:spcPts val="600"/>
              </a:spcAft>
              <a:defRPr sz="1600"/>
            </a:pPr>
            <a:r>
              <a:t>  • Week 3: Backend API, database setup</a:t>
            </a:r>
          </a:p>
          <a:p>
            <a:pPr>
              <a:spcAft>
                <a:spcPts val="600"/>
              </a:spcAft>
              <a:defRPr sz="1600"/>
            </a:pPr>
            <a:r>
              <a:t>  • Week 4: Integration testing, documentation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Phase 2: Intermediate (Weeks 5-10)</a:t>
            </a:r>
          </a:p>
          <a:p>
            <a:pPr>
              <a:spcAft>
                <a:spcPts val="600"/>
              </a:spcAft>
              <a:defRPr sz="1600"/>
            </a:pPr>
            <a:r>
              <a:t>  • Week 5: Authentication system</a:t>
            </a:r>
          </a:p>
          <a:p>
            <a:pPr>
              <a:spcAft>
                <a:spcPts val="600"/>
              </a:spcAft>
              <a:defRPr sz="1600"/>
            </a:pPr>
            <a:r>
              <a:t>  • Week 6: MongoDB integration</a:t>
            </a:r>
          </a:p>
          <a:p>
            <a:pPr>
              <a:spcAft>
                <a:spcPts val="600"/>
              </a:spcAft>
              <a:defRPr sz="1600"/>
            </a:pPr>
            <a:r>
              <a:t>  • Week 7: Deepfake detection module</a:t>
            </a:r>
          </a:p>
          <a:p>
            <a:pPr>
              <a:spcAft>
                <a:spcPts val="600"/>
              </a:spcAft>
              <a:defRPr sz="1600"/>
            </a:pPr>
            <a:r>
              <a:t>  • Week 8: Crime prediction model</a:t>
            </a:r>
          </a:p>
          <a:p>
            <a:pPr>
              <a:spcAft>
                <a:spcPts val="600"/>
              </a:spcAft>
              <a:defRPr sz="1600"/>
            </a:pPr>
            <a:r>
              <a:t>  • Week 9: API integration, testing</a:t>
            </a:r>
          </a:p>
          <a:p>
            <a:pPr>
              <a:spcAft>
                <a:spcPts val="600"/>
              </a:spcAft>
              <a:defRPr sz="1600"/>
            </a:pPr>
            <a:r>
              <a:t>  • Week 10: Performance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Phase 3: Advanced (Weeks 11-16)</a:t>
            </a:r>
          </a:p>
          <a:p>
            <a:pPr>
              <a:spcAft>
                <a:spcPts val="600"/>
              </a:spcAft>
              <a:defRPr sz="1600"/>
            </a:pPr>
            <a:r>
              <a:t>  • Week 11-12: Surveillance system</a:t>
            </a:r>
          </a:p>
          <a:p>
            <a:pPr>
              <a:spcAft>
                <a:spcPts val="600"/>
              </a:spcAft>
              <a:defRPr sz="1600"/>
            </a:pPr>
            <a:r>
              <a:t>  • Week 13: Alert system</a:t>
            </a:r>
          </a:p>
          <a:p>
            <a:pPr>
              <a:spcAft>
                <a:spcPts val="600"/>
              </a:spcAft>
              <a:defRPr sz="1600"/>
            </a:pPr>
            <a:r>
              <a:t>  • Week 14: Security hardening</a:t>
            </a:r>
          </a:p>
          <a:p>
            <a:pPr>
              <a:spcAft>
                <a:spcPts val="600"/>
              </a:spcAft>
              <a:defRPr sz="1600"/>
            </a:pPr>
            <a:r>
              <a:t>  • Week 15: AWS deployment</a:t>
            </a:r>
          </a:p>
          <a:p>
            <a:pPr>
              <a:spcAft>
                <a:spcPts val="600"/>
              </a:spcAft>
              <a:defRPr sz="1600"/>
            </a:pPr>
            <a:r>
              <a:t>  • Week 16: Final testing, optimization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Milestones:</a:t>
            </a:r>
          </a:p>
          <a:p>
            <a:pPr>
              <a:spcAft>
                <a:spcPts val="600"/>
              </a:spcAft>
              <a:defRPr sz="1600"/>
            </a:pPr>
            <a:r>
              <a:t>  • Week 4: Working MVP</a:t>
            </a:r>
          </a:p>
          <a:p>
            <a:pPr>
              <a:spcAft>
                <a:spcPts val="600"/>
              </a:spcAft>
              <a:defRPr sz="1600"/>
            </a:pPr>
            <a:r>
              <a:t>  • Week 10: Full-featured system</a:t>
            </a:r>
          </a:p>
          <a:p>
            <a:pPr>
              <a:spcAft>
                <a:spcPts val="600"/>
              </a:spcAft>
              <a:defRPr sz="1600"/>
            </a:pPr>
            <a:r>
              <a:t>  • Week 16: Production-ready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Deliverables:</a:t>
            </a:r>
          </a:p>
          <a:p>
            <a:pPr>
              <a:spcAft>
                <a:spcPts val="600"/>
              </a:spcAft>
              <a:defRPr sz="1600"/>
            </a:pPr>
            <a:r>
              <a:t>  • Technical reports, user guides</a:t>
            </a:r>
          </a:p>
          <a:p>
            <a:pPr>
              <a:spcAft>
                <a:spcPts val="600"/>
              </a:spcAft>
              <a:defRPr sz="1600"/>
            </a:pPr>
            <a:r>
              <a:t>  • API documentation</a:t>
            </a:r>
          </a:p>
          <a:p>
            <a:pPr>
              <a:spcAft>
                <a:spcPts val="600"/>
              </a:spcAft>
              <a:defRPr sz="1600"/>
            </a:pPr>
            <a:r>
              <a:t>  • Working demonstrations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Challenge 1: Real-Time Processing</a:t>
            </a:r>
          </a:p>
          <a:p>
            <a:pPr>
              <a:spcAft>
                <a:spcPts val="1000"/>
              </a:spcAft>
              <a:defRPr sz="1800"/>
            </a:pPr>
            <a:r>
              <a:t>  • Problem: AI model inference latency</a:t>
            </a:r>
          </a:p>
          <a:p>
            <a:pPr>
              <a:spcAft>
                <a:spcPts val="1000"/>
              </a:spcAft>
              <a:defRPr sz="1800"/>
            </a:pPr>
            <a:r>
              <a:t>  • Solution: Model optimization (quantization, pruning, batching)</a:t>
            </a:r>
          </a:p>
          <a:p>
            <a:pPr>
              <a:spcAft>
                <a:spcPts val="1000"/>
              </a:spcAft>
              <a:defRPr sz="1800"/>
            </a:pPr>
            <a:r>
              <a:t>  • Approach: Hardware acceleration, edge computing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Challenge 2: Accuracy vs. Speed Trade-off</a:t>
            </a:r>
          </a:p>
          <a:p>
            <a:pPr>
              <a:spcAft>
                <a:spcPts val="1000"/>
              </a:spcAft>
              <a:defRPr sz="1800"/>
            </a:pPr>
            <a:r>
              <a:t>  • Problem: High accuracy models often slow</a:t>
            </a:r>
          </a:p>
          <a:p>
            <a:pPr>
              <a:spcAft>
                <a:spcPts val="1000"/>
              </a:spcAft>
              <a:defRPr sz="1800"/>
            </a:pPr>
            <a:r>
              <a:t>  • Solution: Ensemble approach with tiered selection</a:t>
            </a:r>
          </a:p>
          <a:p>
            <a:pPr>
              <a:spcAft>
                <a:spcPts val="1000"/>
              </a:spcAft>
              <a:defRPr sz="1800"/>
            </a:pPr>
            <a:r>
              <a:t>  • Approach: Adaptive model selection based on urgency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Challenge 3: Data Privacy vs. Effectiveness</a:t>
            </a:r>
          </a:p>
          <a:p>
            <a:pPr>
              <a:spcAft>
                <a:spcPts val="1000"/>
              </a:spcAft>
              <a:defRPr sz="1800"/>
            </a:pPr>
            <a:r>
              <a:t>  • Problem: Effective models require sensitive data</a:t>
            </a:r>
          </a:p>
          <a:p>
            <a:pPr>
              <a:spcAft>
                <a:spcPts val="1000"/>
              </a:spcAft>
              <a:defRPr sz="1800"/>
            </a:pPr>
            <a:r>
              <a:t>  • Solution: Federated learning, synthetic data generation</a:t>
            </a:r>
          </a:p>
          <a:p>
            <a:pPr>
              <a:spcAft>
                <a:spcPts val="1000"/>
              </a:spcAft>
              <a:defRPr sz="1800"/>
            </a:pPr>
            <a:r>
              <a:t>  • Approach: Privacy-preserving ML techniques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Challenge 4: Scalability Under Load</a:t>
            </a:r>
          </a:p>
          <a:p>
            <a:pPr>
              <a:spcAft>
                <a:spcPts val="1000"/>
              </a:spcAft>
              <a:defRPr sz="1800"/>
            </a:pPr>
            <a:r>
              <a:t>  • Problem: Performance degradation with concurrent users</a:t>
            </a:r>
          </a:p>
          <a:p>
            <a:pPr>
              <a:spcAft>
                <a:spcPts val="1000"/>
              </a:spcAft>
              <a:defRPr sz="1800"/>
            </a:pPr>
            <a:r>
              <a:t>  • Solution: Microservices architecture, auto-scaling</a:t>
            </a:r>
          </a:p>
          <a:p>
            <a:pPr>
              <a:spcAft>
                <a:spcPts val="1000"/>
              </a:spcAft>
              <a:defRPr sz="1800"/>
            </a:pPr>
            <a:r>
              <a:t>  • Approach: Cloud-based infrastructure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Research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Short-term Research (3-6 months):</a:t>
            </a:r>
          </a:p>
          <a:p>
            <a:pPr>
              <a:spcAft>
                <a:spcPts val="1000"/>
              </a:spcAft>
              <a:defRPr sz="1800"/>
            </a:pPr>
            <a:r>
              <a:t>  • Multilingual support across NLP models</a:t>
            </a:r>
          </a:p>
          <a:p>
            <a:pPr>
              <a:spcAft>
                <a:spcPts val="1000"/>
              </a:spcAft>
              <a:defRPr sz="1800"/>
            </a:pPr>
            <a:r>
              <a:t>  • Voice deepfake detection</a:t>
            </a:r>
          </a:p>
          <a:p>
            <a:pPr>
              <a:spcAft>
                <a:spcPts val="1000"/>
              </a:spcAft>
              <a:defRPr sz="1800"/>
            </a:pPr>
            <a:r>
              <a:t>  • Social media integration</a:t>
            </a:r>
          </a:p>
          <a:p>
            <a:pPr>
              <a:spcAft>
                <a:spcPts val="1000"/>
              </a:spcAft>
              <a:defRPr sz="1800"/>
            </a:pPr>
            <a:r>
              <a:t>  • Mobile application development</a:t>
            </a:r>
          </a:p>
          <a:p>
            <a:pPr>
              <a:spcAft>
                <a:spcPts val="1000"/>
              </a:spcAft>
              <a:defRPr sz="1800"/>
            </a:pPr>
            <a:r>
              <a:t>  • Advanced analytics and pattern recognition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Medium-term Research (6-12 months):</a:t>
            </a:r>
          </a:p>
          <a:p>
            <a:pPr>
              <a:spcAft>
                <a:spcPts val="1000"/>
              </a:spcAft>
              <a:defRPr sz="1800"/>
            </a:pPr>
            <a:r>
              <a:t>  • Edge computing for lightweight models</a:t>
            </a:r>
          </a:p>
          <a:p>
            <a:pPr>
              <a:spcAft>
                <a:spcPts val="1000"/>
              </a:spcAft>
              <a:defRPr sz="1800"/>
            </a:pPr>
            <a:r>
              <a:t>  • Federated learning for privacy</a:t>
            </a:r>
          </a:p>
          <a:p>
            <a:pPr>
              <a:spcAft>
                <a:spcPts val="1000"/>
              </a:spcAft>
              <a:defRPr sz="1800"/>
            </a:pPr>
            <a:r>
              <a:t>  • Explainable AI features</a:t>
            </a:r>
          </a:p>
          <a:p>
            <a:pPr>
              <a:spcAft>
                <a:spcPts val="1000"/>
              </a:spcAft>
              <a:defRPr sz="1800"/>
            </a:pPr>
            <a:r>
              <a:t>  • Cross-modal analysis</a:t>
            </a:r>
          </a:p>
          <a:p>
            <a:pPr>
              <a:spcAft>
                <a:spcPts val="1000"/>
              </a:spcAft>
              <a:defRPr sz="1800"/>
            </a:pPr>
            <a:r>
              <a:t>  • Government integration APIs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Long-term Vision (1-2 years):</a:t>
            </a:r>
          </a:p>
          <a:p>
            <a:pPr>
              <a:spcAft>
                <a:spcPts val="1000"/>
              </a:spcAft>
              <a:defRPr sz="1800"/>
            </a:pPr>
            <a:r>
              <a:t>  • Autonomous response systems</a:t>
            </a:r>
          </a:p>
          <a:p>
            <a:pPr>
              <a:spcAft>
                <a:spcPts val="1000"/>
              </a:spcAft>
              <a:defRPr sz="1800"/>
            </a:pPr>
            <a:r>
              <a:t>  • Blockchain integration</a:t>
            </a:r>
          </a:p>
          <a:p>
            <a:pPr>
              <a:spcAft>
                <a:spcPts val="1000"/>
              </a:spcAft>
              <a:defRPr sz="1800"/>
            </a:pPr>
            <a:r>
              <a:t>  • Global threat network</a:t>
            </a:r>
          </a:p>
          <a:p>
            <a:pPr>
              <a:spcAft>
                <a:spcPts val="1000"/>
              </a:spcAft>
              <a:defRPr sz="1800"/>
            </a:pPr>
            <a:r>
              <a:t>  • AI assistant integration</a:t>
            </a:r>
          </a:p>
          <a:p>
            <a:pPr>
              <a:spcAft>
                <a:spcPts val="1000"/>
              </a:spcAft>
              <a:defRPr sz="1800"/>
            </a:pPr>
            <a:r>
              <a:t>  • Advanced predictive analytics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- Research Summary &amp;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Research Summary:</a:t>
            </a:r>
          </a:p>
          <a:p>
            <a:pPr>
              <a:spcAft>
                <a:spcPts val="1000"/>
              </a:spcAft>
              <a:defRPr sz="1800"/>
            </a:pPr>
            <a:r>
              <a:t>  CyberShield AI represents a comprehensive approach to digital threat detection through integrated AI systems.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Key Research Contributions:</a:t>
            </a:r>
          </a:p>
          <a:p>
            <a:pPr>
              <a:spcAft>
                <a:spcPts val="1000"/>
              </a:spcAft>
              <a:defRPr sz="1800"/>
            </a:pPr>
            <a:r>
              <a:t>  1. Novel Integration: First unified platform combining multiple AI detection modalities</a:t>
            </a:r>
          </a:p>
          <a:p>
            <a:pPr>
              <a:spcAft>
                <a:spcPts val="1000"/>
              </a:spcAft>
              <a:defRPr sz="1800"/>
            </a:pPr>
            <a:r>
              <a:t>  2. Technical Innovation: Optimized real-time processing architecture</a:t>
            </a:r>
          </a:p>
          <a:p>
            <a:pPr>
              <a:spcAft>
                <a:spcPts val="1000"/>
              </a:spcAft>
              <a:defRPr sz="1800"/>
            </a:pPr>
            <a:r>
              <a:t>  3. Performance Excellence: Superior accuracy across detection types</a:t>
            </a:r>
          </a:p>
          <a:p>
            <a:pPr>
              <a:spcAft>
                <a:spcPts val="1000"/>
              </a:spcAft>
              <a:defRPr sz="1800"/>
            </a:pPr>
            <a:r>
              <a:t>  4. Practical Implementation: Production-ready system with comprehensive security</a:t>
            </a:r>
          </a:p>
          <a:p>
            <a:pPr>
              <a:spcAft>
                <a:spcPts val="1000"/>
              </a:spcAft>
              <a:defRPr sz="1800"/>
            </a:pPr>
            <a:r>
              <a:t>  5. Scalable Solution: Cloud-based architecture for variable load handling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Technical Achievements:</a:t>
            </a:r>
          </a:p>
          <a:p>
            <a:pPr>
              <a:spcAft>
                <a:spcPts val="1000"/>
              </a:spcAft>
              <a:defRPr sz="1800"/>
            </a:pPr>
            <a:r>
              <a:t>  • Multi-modal AI system (NLP + Computer Vision + Predictive Analytics)</a:t>
            </a:r>
          </a:p>
          <a:p>
            <a:pPr>
              <a:spcAft>
                <a:spcPts val="1000"/>
              </a:spcAft>
              <a:defRPr sz="1800"/>
            </a:pPr>
            <a:r>
              <a:t>  • Real-time processing capabilities (&lt;3 seconds response time)</a:t>
            </a:r>
          </a:p>
          <a:p>
            <a:pPr>
              <a:spcAft>
                <a:spcPts val="1000"/>
              </a:spcAft>
              <a:defRPr sz="1800"/>
            </a:pPr>
            <a:r>
              <a:t>  • High detection accuracy (85-95% across modules)</a:t>
            </a:r>
          </a:p>
          <a:p>
            <a:pPr>
              <a:spcAft>
                <a:spcPts val="1000"/>
              </a:spcAft>
              <a:defRPr sz="1800"/>
            </a:pPr>
            <a:r>
              <a:t>  • Scalable microservices architecture</a:t>
            </a:r>
          </a:p>
          <a:p>
            <a:pPr>
              <a:spcAft>
                <a:spcPts val="1000"/>
              </a:spcAft>
              <a:defRPr sz="1800"/>
            </a:pPr>
            <a:r>
              <a:t>  • Comprehensive security and privacy framework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Academic Impact:</a:t>
            </a:r>
          </a:p>
          <a:p>
            <a:pPr>
              <a:spcAft>
                <a:spcPts val="1000"/>
              </a:spcAft>
              <a:defRPr sz="1800"/>
            </a:pPr>
            <a:r>
              <a:t>  • Demonstrates practical AI system integration</a:t>
            </a:r>
          </a:p>
          <a:p>
            <a:pPr>
              <a:spcAft>
                <a:spcPts val="1000"/>
              </a:spcAft>
              <a:defRPr sz="1800"/>
            </a:pPr>
            <a:r>
              <a:t>  • Addresses real-world digital security challenges</a:t>
            </a:r>
          </a:p>
          <a:p>
            <a:pPr>
              <a:spcAft>
                <a:spcPts val="1000"/>
              </a:spcAft>
              <a:defRPr sz="1800"/>
            </a:pPr>
            <a:r>
              <a:t>  • Provides scalable architecture template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 References (Key Papers)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AI &amp; Machine Learning:</a:t>
            </a:r>
          </a:p>
          <a:p>
            <a:pPr>
              <a:spcAft>
                <a:spcPts val="1000"/>
              </a:spcAft>
              <a:defRPr sz="1800"/>
            </a:pPr>
            <a:r>
              <a:t>  • Devlin, J., et al. (2019). 'BERT: Pre-training of Deep Bidirectional Transformers'</a:t>
            </a:r>
          </a:p>
          <a:p>
            <a:pPr>
              <a:spcAft>
                <a:spcPts val="1000"/>
              </a:spcAft>
              <a:defRPr sz="1800"/>
            </a:pPr>
            <a:r>
              <a:t>  • Vaswani, A., et al. (2017). 'Attention is All You Need'</a:t>
            </a:r>
          </a:p>
          <a:p>
            <a:pPr>
              <a:spcAft>
                <a:spcPts val="1000"/>
              </a:spcAft>
              <a:defRPr sz="1800"/>
            </a:pPr>
            <a:r>
              <a:t>  • Redmon, J., et al. (2016). 'You Only Look Once: Unified, Real-Time Object Detection'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Fake News Detection:</a:t>
            </a:r>
          </a:p>
          <a:p>
            <a:pPr>
              <a:spcAft>
                <a:spcPts val="1000"/>
              </a:spcAft>
              <a:defRPr sz="1800"/>
            </a:pPr>
            <a:r>
              <a:t>  • Shu, K., et al. (2017). 'Fake News Detection on Social Media'</a:t>
            </a:r>
          </a:p>
          <a:p>
            <a:pPr>
              <a:spcAft>
                <a:spcPts val="1000"/>
              </a:spcAft>
              <a:defRPr sz="1800"/>
            </a:pPr>
            <a:r>
              <a:t>  • Wang, W. Y. (2017). 'Liar, Liar Pants on Fire: A New Benchmark Dataset'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Deepfake Detection:</a:t>
            </a:r>
          </a:p>
          <a:p>
            <a:pPr>
              <a:spcAft>
                <a:spcPts val="1000"/>
              </a:spcAft>
              <a:defRPr sz="1800"/>
            </a:pPr>
            <a:r>
              <a:t>  • Rössler, A., et al. (2019). 'FaceForensics++: Learning to Detect Manipulated Facial Images'</a:t>
            </a:r>
          </a:p>
          <a:p>
            <a:pPr>
              <a:spcAft>
                <a:spcPts val="1000"/>
              </a:spcAft>
              <a:defRPr sz="1800"/>
            </a:pPr>
            <a:r>
              <a:t>  • Afchar, D., et al. (2018). 'MesoNet: A Compact Facial Video Forgery Detection Network'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Crime Prediction:</a:t>
            </a:r>
          </a:p>
          <a:p>
            <a:pPr>
              <a:spcAft>
                <a:spcPts val="1000"/>
              </a:spcAft>
              <a:defRPr sz="1800"/>
            </a:pPr>
            <a:r>
              <a:t>  • Wang, H., et al. (2017). 'Crime Rate Inference with Big Data'</a:t>
            </a:r>
          </a:p>
          <a:p>
            <a:pPr>
              <a:spcAft>
                <a:spcPts val="1000"/>
              </a:spcAft>
              <a:defRPr sz="1800"/>
            </a:pPr>
            <a:r>
              <a:t>  • Catlett, C., et al. (2019). 'Spreadsheets in the Cloud: A Data-Intensive Application'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Demo Components:</a:t>
            </a:r>
          </a:p>
          <a:p>
            <a:pPr>
              <a:spcAft>
                <a:spcPts val="1000"/>
              </a:spcAft>
              <a:defRPr sz="1800"/>
            </a:pPr>
            <a:r>
              <a:t>  1. User Interface Overview: Dashboard with real-time statistics</a:t>
            </a:r>
          </a:p>
          <a:p>
            <a:pPr>
              <a:spcAft>
                <a:spcPts val="1000"/>
              </a:spcAft>
              <a:defRPr sz="1800"/>
            </a:pPr>
            <a:r>
              <a:t>  2. Fake News Detection: Live text analysis and confidence scoring</a:t>
            </a:r>
          </a:p>
          <a:p>
            <a:pPr>
              <a:spcAft>
                <a:spcPts val="1000"/>
              </a:spcAft>
              <a:defRPr sz="1800"/>
            </a:pPr>
            <a:r>
              <a:t>  3. Deepfake Detection: Video upload and frame-by-frame analysis</a:t>
            </a:r>
          </a:p>
          <a:p>
            <a:pPr>
              <a:spcAft>
                <a:spcPts val="1000"/>
              </a:spcAft>
              <a:defRPr sz="1800"/>
            </a:pPr>
            <a:r>
              <a:t>  4. Crime Analytics: Interactive heatmap and risk prediction</a:t>
            </a:r>
          </a:p>
          <a:p>
            <a:pPr>
              <a:spcAft>
                <a:spcPts val="1000"/>
              </a:spcAft>
              <a:defRPr sz="1800"/>
            </a:pPr>
            <a:r>
              <a:t>  5. Real-Time Surveillance: Live CCTV feed analysis and threat detection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Performance Metrics to Show:</a:t>
            </a:r>
          </a:p>
          <a:p>
            <a:pPr>
              <a:spcAft>
                <a:spcPts val="1000"/>
              </a:spcAft>
              <a:defRPr sz="1800"/>
            </a:pPr>
            <a:r>
              <a:t>  • Response times (actual measurements)</a:t>
            </a:r>
          </a:p>
          <a:p>
            <a:pPr>
              <a:spcAft>
                <a:spcPts val="1000"/>
              </a:spcAft>
              <a:defRPr sz="1800"/>
            </a:pPr>
            <a:r>
              <a:t>  • Accuracy percentages</a:t>
            </a:r>
          </a:p>
          <a:p>
            <a:pPr>
              <a:spcAft>
                <a:spcPts val="1000"/>
              </a:spcAft>
              <a:defRPr sz="1800"/>
            </a:pPr>
            <a:r>
              <a:t>  • System load and resource utilization</a:t>
            </a:r>
          </a:p>
          <a:p>
            <a:pPr>
              <a:spcAft>
                <a:spcPts val="1000"/>
              </a:spcAft>
              <a:defRPr sz="1800"/>
            </a:pPr>
            <a:r>
              <a:t>  • Concurrent user handling capability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Demo Features:</a:t>
            </a:r>
          </a:p>
          <a:p>
            <a:pPr>
              <a:spcAft>
                <a:spcPts val="1000"/>
              </a:spcAft>
              <a:defRPr sz="1800"/>
            </a:pPr>
            <a:r>
              <a:t>  • Interactive user interface</a:t>
            </a:r>
          </a:p>
          <a:p>
            <a:pPr>
              <a:spcAft>
                <a:spcPts val="1000"/>
              </a:spcAft>
              <a:defRPr sz="1800"/>
            </a:pPr>
            <a:r>
              <a:t>  • Real-time processing visualization</a:t>
            </a:r>
          </a:p>
          <a:p>
            <a:pPr>
              <a:spcAft>
                <a:spcPts val="1000"/>
              </a:spcAft>
              <a:defRPr sz="1800"/>
            </a:pPr>
            <a:r>
              <a:t>  • Multiple analysis types</a:t>
            </a:r>
          </a:p>
          <a:p>
            <a:pPr>
              <a:spcAft>
                <a:spcPts val="1000"/>
              </a:spcAft>
              <a:defRPr sz="1800"/>
            </a:pPr>
            <a:r>
              <a:t>  • Performance monitoring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Research Discussion Areas:</a:t>
            </a:r>
          </a:p>
          <a:p>
            <a:pPr>
              <a:spcAft>
                <a:spcPts val="1000"/>
              </a:spcAft>
              <a:defRPr sz="1800"/>
            </a:pPr>
            <a:r>
              <a:t>  • Algorithmic Details: BERT fine-tuning, CNN architecture, ensemble methods</a:t>
            </a:r>
          </a:p>
          <a:p>
            <a:pPr>
              <a:spcAft>
                <a:spcPts val="1000"/>
              </a:spcAft>
              <a:defRPr sz="1800"/>
            </a:pPr>
            <a:r>
              <a:t>  • System Architecture: Microservices, database design, security implementation</a:t>
            </a:r>
          </a:p>
          <a:p>
            <a:pPr>
              <a:spcAft>
                <a:spcPts val="1000"/>
              </a:spcAft>
              <a:defRPr sz="1800"/>
            </a:pPr>
            <a:r>
              <a:t>  • Experimental Methodology: Dataset preparation, training procedures, metrics</a:t>
            </a:r>
          </a:p>
          <a:p>
            <a:pPr>
              <a:spcAft>
                <a:spcPts val="1000"/>
              </a:spcAft>
              <a:defRPr sz="1800"/>
            </a:pPr>
            <a:r>
              <a:t>  • Future Research: Algorithm improvements, system enhancements, collaboration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Open Discussion:</a:t>
            </a:r>
          </a:p>
          <a:p>
            <a:pPr>
              <a:spcAft>
                <a:spcPts val="1000"/>
              </a:spcAft>
              <a:defRPr sz="1800"/>
            </a:pPr>
            <a:r>
              <a:t>  • Technical challenges encountered</a:t>
            </a:r>
          </a:p>
          <a:p>
            <a:pPr>
              <a:spcAft>
                <a:spcPts val="1000"/>
              </a:spcAft>
              <a:defRPr sz="1800"/>
            </a:pPr>
            <a:r>
              <a:t>  • Novel approaches and innovations</a:t>
            </a:r>
          </a:p>
          <a:p>
            <a:pPr>
              <a:spcAft>
                <a:spcPts val="1000"/>
              </a:spcAft>
              <a:defRPr sz="1800"/>
            </a:pPr>
            <a:r>
              <a:t>  • Practical implementation insights</a:t>
            </a:r>
          </a:p>
          <a:p>
            <a:pPr>
              <a:spcAft>
                <a:spcPts val="1000"/>
              </a:spcAft>
              <a:defRPr sz="1800"/>
            </a:pPr>
            <a:r>
              <a:t>  • Lessons learned and recommendations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Questions Welcome:</a:t>
            </a:r>
          </a:p>
          <a:p>
            <a:pPr>
              <a:spcAft>
                <a:spcPts val="1000"/>
              </a:spcAft>
              <a:defRPr sz="1800"/>
            </a:pPr>
            <a:r>
              <a:t>  • Technical implementation details</a:t>
            </a:r>
          </a:p>
          <a:p>
            <a:pPr>
              <a:spcAft>
                <a:spcPts val="1000"/>
              </a:spcAft>
              <a:defRPr sz="1800"/>
            </a:pPr>
            <a:r>
              <a:t>  • Algorithm choices and alternatives</a:t>
            </a:r>
          </a:p>
          <a:p>
            <a:pPr>
              <a:spcAft>
                <a:spcPts val="1000"/>
              </a:spcAft>
              <a:defRPr sz="1800"/>
            </a:pPr>
            <a:r>
              <a:t>  • Performance optimization strategies</a:t>
            </a:r>
          </a:p>
          <a:p>
            <a:pPr>
              <a:spcAft>
                <a:spcPts val="1000"/>
              </a:spcAft>
              <a:defRPr sz="1800"/>
            </a:pPr>
            <a:r>
              <a:t>  • Future research directions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Academic Guidance:</a:t>
            </a:r>
          </a:p>
          <a:p>
            <a:pPr>
              <a:spcAft>
                <a:spcPts val="1000"/>
              </a:spcAft>
              <a:defRPr sz="1800"/>
            </a:pPr>
            <a:r>
              <a:t>  • [Faculty Mentor Name] - Project Supervisor</a:t>
            </a:r>
          </a:p>
          <a:p>
            <a:pPr>
              <a:spcAft>
                <a:spcPts val="1000"/>
              </a:spcAft>
              <a:defRPr sz="1800"/>
            </a:pPr>
            <a:r>
              <a:t>  • Department of Computer Science &amp; Engineering</a:t>
            </a:r>
          </a:p>
          <a:p>
            <a:pPr>
              <a:spcAft>
                <a:spcPts val="1000"/>
              </a:spcAft>
              <a:defRPr sz="1800"/>
            </a:pPr>
            <a:r>
              <a:t>  • [Institution Name]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Technical Resources:</a:t>
            </a:r>
          </a:p>
          <a:p>
            <a:pPr>
              <a:spcAft>
                <a:spcPts val="1000"/>
              </a:spcAft>
              <a:defRPr sz="1800"/>
            </a:pPr>
            <a:r>
              <a:t>  • AWS Educate Program - Cloud computing credits</a:t>
            </a:r>
          </a:p>
          <a:p>
            <a:pPr>
              <a:spcAft>
                <a:spcPts val="1000"/>
              </a:spcAft>
              <a:defRPr sz="1800"/>
            </a:pPr>
            <a:r>
              <a:t>  • GitHub Education - Development tools</a:t>
            </a:r>
          </a:p>
          <a:p>
            <a:pPr>
              <a:spcAft>
                <a:spcPts val="1000"/>
              </a:spcAft>
              <a:defRPr sz="1800"/>
            </a:pPr>
            <a:r>
              <a:t>  • HuggingFace - Pre-trained AI models</a:t>
            </a:r>
          </a:p>
          <a:p>
            <a:pPr>
              <a:spcAft>
                <a:spcPts val="1000"/>
              </a:spcAft>
              <a:defRPr sz="1800"/>
            </a:pPr>
            <a:r>
              <a:t>  • Open-source community - Libraries and frameworks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Research Support:</a:t>
            </a:r>
          </a:p>
          <a:p>
            <a:pPr>
              <a:spcAft>
                <a:spcPts val="1000"/>
              </a:spcAft>
              <a:defRPr sz="1800"/>
            </a:pPr>
            <a:r>
              <a:t>  • Institutional Research Grant</a:t>
            </a:r>
          </a:p>
          <a:p>
            <a:pPr>
              <a:spcAft>
                <a:spcPts val="1000"/>
              </a:spcAft>
              <a:defRPr sz="1800"/>
            </a:pPr>
            <a:r>
              <a:t>  • Departmental Computing Facilities</a:t>
            </a:r>
          </a:p>
          <a:p>
            <a:pPr>
              <a:spcAft>
                <a:spcPts val="1000"/>
              </a:spcAft>
              <a:defRPr sz="1800"/>
            </a:pPr>
            <a:r>
              <a:t>  • Library and Research Resources</a:t>
            </a:r>
          </a:p>
          <a:p>
            <a:pPr>
              <a:spcAft>
                <a:spcPts val="1000"/>
              </a:spcAft>
              <a:defRPr sz="1800"/>
            </a:pPr>
            <a:r>
              <a:t>  • Technical Support Staff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Special Thanks:</a:t>
            </a:r>
          </a:p>
          <a:p>
            <a:pPr>
              <a:spcAft>
                <a:spcPts val="1000"/>
              </a:spcAft>
              <a:defRPr sz="1800"/>
            </a:pPr>
            <a:r>
              <a:t>  • Industry mentors and advisors</a:t>
            </a:r>
          </a:p>
          <a:p>
            <a:pPr>
              <a:spcAft>
                <a:spcPts val="1000"/>
              </a:spcAft>
              <a:defRPr sz="1800"/>
            </a:pPr>
            <a:r>
              <a:t>  • Beta testing participants</a:t>
            </a:r>
          </a:p>
          <a:p>
            <a:pPr>
              <a:spcAft>
                <a:spcPts val="1000"/>
              </a:spcAft>
              <a:defRPr sz="1800"/>
            </a:pPr>
            <a:r>
              <a:t>  • Open-source contributors</a:t>
            </a:r>
          </a:p>
          <a:p>
            <a:pPr>
              <a:spcAft>
                <a:spcPts val="1000"/>
              </a:spcAft>
              <a:defRPr sz="1800"/>
            </a:pPr>
            <a:r>
              <a:t>  • Academic community support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 for Your Attention!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CyberShield AI - Making Digital Spaces Safer Through Artificial Intelligence</a:t>
            </a:r>
          </a:p>
          <a:p/>
          <a:p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Contact: [your.email@institution.edu] | GitHub: [github.com/yourusername] | Project: CyberShield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
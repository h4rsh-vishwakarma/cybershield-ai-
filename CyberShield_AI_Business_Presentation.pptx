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CyberShield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Crime Intelligence, Deepfake &amp; Fake News Detection System</a:t>
            </a:r>
          </a:p>
          <a:p/>
          <a:p>
            <a:r>
              <a:t>Team: [Your Team] | Duration: 12-16 Weeks | Date: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- Rising Digital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Fake News &amp; Misinformation:</a:t>
            </a:r>
          </a:p>
          <a:p>
            <a:pPr>
              <a:spcAft>
                <a:spcPts val="1000"/>
              </a:spcAft>
              <a:defRPr sz="1800"/>
            </a:pPr>
            <a:r>
              <a:t>  • 70% of people encounter fake news daily</a:t>
            </a:r>
          </a:p>
          <a:p>
            <a:pPr>
              <a:spcAft>
                <a:spcPts val="1000"/>
              </a:spcAft>
              <a:defRPr sz="1800"/>
            </a:pPr>
            <a:r>
              <a:t>  • Misinformation spreads 6x faster than truth</a:t>
            </a:r>
          </a:p>
          <a:p>
            <a:pPr>
              <a:spcAft>
                <a:spcPts val="1000"/>
              </a:spcAft>
              <a:defRPr sz="1800"/>
            </a:pPr>
            <a:r>
              <a:t>  • Political and social manipulation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Deepfake Technology:</a:t>
            </a:r>
          </a:p>
          <a:p>
            <a:pPr>
              <a:spcAft>
                <a:spcPts val="1000"/>
              </a:spcAft>
              <a:defRPr sz="1800"/>
            </a:pPr>
            <a:r>
              <a:t>  • 500% increase in deepfake content (2023-2025)</a:t>
            </a:r>
          </a:p>
          <a:p>
            <a:pPr>
              <a:spcAft>
                <a:spcPts val="1000"/>
              </a:spcAft>
              <a:defRPr sz="1800"/>
            </a:pPr>
            <a:r>
              <a:t>  • Used for scams, blackmail, and identity theft</a:t>
            </a:r>
          </a:p>
          <a:p>
            <a:pPr>
              <a:spcAft>
                <a:spcPts val="1000"/>
              </a:spcAft>
              <a:defRPr sz="1800"/>
            </a:pPr>
            <a:r>
              <a:t>  • 95% of people can't detect deepfakes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Crime &amp; Security:</a:t>
            </a:r>
          </a:p>
          <a:p>
            <a:pPr>
              <a:spcAft>
                <a:spcPts val="1000"/>
              </a:spcAft>
              <a:defRPr sz="1800"/>
            </a:pPr>
            <a:r>
              <a:t>  • Rising cyber crimes</a:t>
            </a:r>
          </a:p>
          <a:p>
            <a:pPr>
              <a:spcAft>
                <a:spcPts val="1000"/>
              </a:spcAft>
              <a:defRPr sz="1800"/>
            </a:pPr>
            <a:r>
              <a:t>  • Limited real-time threat detection</a:t>
            </a:r>
          </a:p>
          <a:p>
            <a:pPr>
              <a:spcAft>
                <a:spcPts val="1000"/>
              </a:spcAft>
              <a:defRPr sz="1800"/>
            </a:pPr>
            <a:r>
              <a:t>  • Inefficient surveillance systems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The Challenge: Existing solutions are fragmented, expensive, and not user-friendly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- CyberShield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Core Mission: Provide accessible, AI-powered tools to combat digital threats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Key Features:</a:t>
            </a:r>
          </a:p>
          <a:p>
            <a:pPr>
              <a:spcAft>
                <a:spcPts val="1000"/>
              </a:spcAft>
              <a:defRPr sz="1800"/>
            </a:pPr>
            <a:r>
              <a:t>  • Fake News Detection - Real-time text analysis</a:t>
            </a:r>
          </a:p>
          <a:p>
            <a:pPr>
              <a:spcAft>
                <a:spcPts val="1000"/>
              </a:spcAft>
              <a:defRPr sz="1800"/>
            </a:pPr>
            <a:r>
              <a:t>  • Deepfake Detection - Video/image authenticity</a:t>
            </a:r>
          </a:p>
          <a:p>
            <a:pPr>
              <a:spcAft>
                <a:spcPts val="1000"/>
              </a:spcAft>
              <a:defRPr sz="1800"/>
            </a:pPr>
            <a:r>
              <a:t>  • Crime Prediction - Location-based risk analysis</a:t>
            </a:r>
          </a:p>
          <a:p>
            <a:pPr>
              <a:spcAft>
                <a:spcPts val="1000"/>
              </a:spcAft>
              <a:defRPr sz="1800"/>
            </a:pPr>
            <a:r>
              <a:t>  • Smart Surveillance - CCTV monitoring with AI</a:t>
            </a:r>
          </a:p>
          <a:p>
            <a:pPr>
              <a:spcAft>
                <a:spcPts val="1000"/>
              </a:spcAft>
              <a:defRPr sz="1800"/>
            </a:pPr>
            <a:r>
              <a:t>  • Real-Time Alerts - Instant notifications</a:t>
            </a:r>
          </a:p>
          <a:p>
            <a:pPr>
              <a:spcAft>
                <a:spcPts val="1000"/>
              </a:spcAft>
              <a:defRPr sz="1800"/>
            </a:pPr>
            <a:r>
              <a:t>  • Analytics Dashboard - Comprehensive insights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Target Users:</a:t>
            </a:r>
          </a:p>
          <a:p>
            <a:pPr>
              <a:spcAft>
                <a:spcPts val="1000"/>
              </a:spcAft>
              <a:defRPr sz="1800"/>
            </a:pPr>
            <a:r>
              <a:t>  • Law Enforcement Agencies</a:t>
            </a:r>
          </a:p>
          <a:p>
            <a:pPr>
              <a:spcAft>
                <a:spcPts val="1000"/>
              </a:spcAft>
              <a:defRPr sz="1800"/>
            </a:pPr>
            <a:r>
              <a:t>  • Media Organizations</a:t>
            </a:r>
          </a:p>
          <a:p>
            <a:pPr>
              <a:spcAft>
                <a:spcPts val="1000"/>
              </a:spcAft>
              <a:defRPr sz="1800"/>
            </a:pPr>
            <a:r>
              <a:t>  • Corporate Security Teams</a:t>
            </a:r>
          </a:p>
          <a:p>
            <a:pPr>
              <a:spcAft>
                <a:spcPts val="1000"/>
              </a:spcAft>
              <a:defRPr sz="1800"/>
            </a:pPr>
            <a:r>
              <a:t>  • General Public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 - SMART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Specific:</a:t>
            </a:r>
          </a:p>
          <a:p>
            <a:pPr>
              <a:spcAft>
                <a:spcPts val="1000"/>
              </a:spcAft>
              <a:defRPr sz="1800"/>
            </a:pPr>
            <a:r>
              <a:t>  • Develop 4 integrated AI modules</a:t>
            </a:r>
          </a:p>
          <a:p>
            <a:pPr>
              <a:spcAft>
                <a:spcPts val="1000"/>
              </a:spcAft>
              <a:defRPr sz="1800"/>
            </a:pPr>
            <a:r>
              <a:t>  • Create user-friendly dashboard interface</a:t>
            </a:r>
          </a:p>
          <a:p>
            <a:pPr>
              <a:spcAft>
                <a:spcPts val="1000"/>
              </a:spcAft>
              <a:defRPr sz="1800"/>
            </a:pPr>
            <a:r>
              <a:t>  • Ensure 95%+ detection accuracy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Measurable:</a:t>
            </a:r>
          </a:p>
          <a:p>
            <a:pPr>
              <a:spcAft>
                <a:spcPts val="1000"/>
              </a:spcAft>
              <a:defRPr sz="1800"/>
            </a:pPr>
            <a:r>
              <a:t>  • 10,000+ text analyses per month</a:t>
            </a:r>
          </a:p>
          <a:p>
            <a:pPr>
              <a:spcAft>
                <a:spcPts val="1000"/>
              </a:spcAft>
              <a:defRPr sz="1800"/>
            </a:pPr>
            <a:r>
              <a:t>  • 5,000+ media files processed daily</a:t>
            </a:r>
          </a:p>
          <a:p>
            <a:pPr>
              <a:spcAft>
                <a:spcPts val="1000"/>
              </a:spcAft>
              <a:defRPr sz="1800"/>
            </a:pPr>
            <a:r>
              <a:t>  • Sub-3 second response time</a:t>
            </a:r>
          </a:p>
          <a:p>
            <a:pPr>
              <a:spcAft>
                <a:spcPts val="1000"/>
              </a:spcAft>
              <a:defRPr sz="1800"/>
            </a:pPr>
            <a:r>
              <a:t>  • 99.9% system uptime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Achievable: Leverage existing AI technologies, proven development methodologies</a:t>
            </a:r>
          </a:p>
          <a:p>
            <a:pPr>
              <a:spcAft>
                <a:spcPts val="1000"/>
              </a:spcAft>
              <a:defRPr sz="1800"/>
            </a:pPr>
            <a:r>
              <a:t>Relevant: Addresses current digital threats, market-ready solution, social impact</a:t>
            </a:r>
          </a:p>
          <a:p>
            <a:pPr>
              <a:spcAft>
                <a:spcPts val="1000"/>
              </a:spcAft>
              <a:defRPr sz="1800"/>
            </a:pPr>
            <a:r>
              <a:t>Time-bound: Complete within 12-16 weeks, milestone-based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Phased Development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Phase 1: Basic Version (4-6 weeks)</a:t>
            </a:r>
          </a:p>
          <a:p>
            <a:pPr>
              <a:spcAft>
                <a:spcPts val="1000"/>
              </a:spcAft>
              <a:defRPr sz="1800"/>
            </a:pPr>
            <a:r>
              <a:t>  • Fake News Detection module</a:t>
            </a:r>
          </a:p>
          <a:p>
            <a:pPr>
              <a:spcAft>
                <a:spcPts val="1000"/>
              </a:spcAft>
              <a:defRPr sz="1800"/>
            </a:pPr>
            <a:r>
              <a:t>  • Simple UI + Dashboard</a:t>
            </a:r>
          </a:p>
          <a:p>
            <a:pPr>
              <a:spcAft>
                <a:spcPts val="1000"/>
              </a:spcAft>
              <a:defRPr sz="1800"/>
            </a:pPr>
            <a:r>
              <a:t>  • Local processing</a:t>
            </a:r>
          </a:p>
          <a:p>
            <a:pPr>
              <a:spcAft>
                <a:spcPts val="1000"/>
              </a:spcAft>
              <a:defRPr sz="1800"/>
            </a:pPr>
            <a:r>
              <a:t>  • Minimal setup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Phase 2: Intermediate Version (8-10 weeks)</a:t>
            </a:r>
          </a:p>
          <a:p>
            <a:pPr>
              <a:spcAft>
                <a:spcPts val="1000"/>
              </a:spcAft>
              <a:defRPr sz="1800"/>
            </a:pPr>
            <a:r>
              <a:t>  • Add Deepfake Detection</a:t>
            </a:r>
          </a:p>
          <a:p>
            <a:pPr>
              <a:spcAft>
                <a:spcPts val="1000"/>
              </a:spcAft>
              <a:defRPr sz="1800"/>
            </a:pPr>
            <a:r>
              <a:t>  • User authentication</a:t>
            </a:r>
          </a:p>
          <a:p>
            <a:pPr>
              <a:spcAft>
                <a:spcPts val="1000"/>
              </a:spcAft>
              <a:defRPr sz="1800"/>
            </a:pPr>
            <a:r>
              <a:t>  • Database integration</a:t>
            </a:r>
          </a:p>
          <a:p>
            <a:pPr>
              <a:spcAft>
                <a:spcPts val="1000"/>
              </a:spcAft>
              <a:defRPr sz="1800"/>
            </a:pPr>
            <a:r>
              <a:t>  • Enhanced UI/UX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Phase 3: Advanced Version (12-16 weeks)</a:t>
            </a:r>
          </a:p>
          <a:p>
            <a:pPr>
              <a:spcAft>
                <a:spcPts val="1000"/>
              </a:spcAft>
              <a:defRPr sz="1800"/>
            </a:pPr>
            <a:r>
              <a:t>  • Crime Prediction + Surveillance</a:t>
            </a:r>
          </a:p>
          <a:p>
            <a:pPr>
              <a:spcAft>
                <a:spcPts val="1000"/>
              </a:spcAft>
              <a:defRPr sz="1800"/>
            </a:pPr>
            <a:r>
              <a:t>  • Real-time processing</a:t>
            </a:r>
          </a:p>
          <a:p>
            <a:pPr>
              <a:spcAft>
                <a:spcPts val="1000"/>
              </a:spcAft>
              <a:defRPr sz="1800"/>
            </a:pPr>
            <a:r>
              <a:t>  • Cloud deployment</a:t>
            </a:r>
          </a:p>
          <a:p>
            <a:pPr>
              <a:spcAft>
                <a:spcPts val="1000"/>
              </a:spcAft>
              <a:defRPr sz="1800"/>
            </a:pPr>
            <a:r>
              <a:t>  • Advanced analytics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Benefits: Quick wins, risk mitigation, flexible resource allocation, continuous improvement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┌─────────────────────────────────────────────┐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│          Frontend (React + Tailwind)         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│   Dashboard | Analytics | Upload Pages      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└────────────────┬────────────────────────────┘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                 │ REST API / WebSocket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┌────────────────┴────────────────────────────┐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│         Backend (FastAPI + Express)         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│  Authentication | File Processing | APIs     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└────────────────┬────────────────────────────┘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                 │ Model Serving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┌────────────────┴────────────────────────────┐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│         AI Models (PyTorch + TensorFlow)    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│  FakeNews | Deepfake | Crime | Surveillance 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└────────────────┬────────────────────────────┘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                 │ Database Connections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┌────────────────┴────────────────────────────┐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│        Database Layer (MongoDB + Redis)     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│  Users | Results | Analytics | Cache       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└─────────────────────────────────────────────┘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AI Models &amp;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Fake News Detection (BERT-based)</a:t>
            </a:r>
          </a:p>
          <a:p>
            <a:pPr>
              <a:spcAft>
                <a:spcPts val="600"/>
              </a:spcAft>
              <a:defRPr sz="1600"/>
            </a:pPr>
            <a:r>
              <a:t>  • Model: Fine-tuned BERT/Transformers</a:t>
            </a:r>
          </a:p>
          <a:p>
            <a:pPr>
              <a:spcAft>
                <a:spcPts val="600"/>
              </a:spcAft>
              <a:defRPr sz="1600"/>
            </a:pPr>
            <a:r>
              <a:t>  • Input: Text content</a:t>
            </a:r>
          </a:p>
          <a:p>
            <a:pPr>
              <a:spcAft>
                <a:spcPts val="600"/>
              </a:spcAft>
              <a:defRPr sz="1600"/>
            </a:pPr>
            <a:r>
              <a:t>  • Processing: NLP pipeline</a:t>
            </a:r>
          </a:p>
          <a:p>
            <a:pPr>
              <a:spcAft>
                <a:spcPts val="600"/>
              </a:spcAft>
              <a:defRPr sz="1600"/>
            </a:pPr>
            <a:r>
              <a:t>  • Output: Real/Fake + confidence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Deepfake Detection (CNN + EfficientNet)</a:t>
            </a:r>
          </a:p>
          <a:p>
            <a:pPr>
              <a:spcAft>
                <a:spcPts val="600"/>
              </a:spcAft>
              <a:defRPr sz="1600"/>
            </a:pPr>
            <a:r>
              <a:t>  • Model: EfficientNet-B4 + Vision Transformers</a:t>
            </a:r>
          </a:p>
          <a:p>
            <a:pPr>
              <a:spcAft>
                <a:spcPts val="600"/>
              </a:spcAft>
              <a:defRPr sz="1600"/>
            </a:pPr>
            <a:r>
              <a:t>  • Input: Video/Image files</a:t>
            </a:r>
          </a:p>
          <a:p>
            <a:pPr>
              <a:spcAft>
                <a:spcPts val="600"/>
              </a:spcAft>
              <a:defRPr sz="1600"/>
            </a:pPr>
            <a:r>
              <a:t>  • Processing: Frame extraction + face detection</a:t>
            </a:r>
          </a:p>
          <a:p>
            <a:pPr>
              <a:spcAft>
                <a:spcPts val="600"/>
              </a:spcAft>
              <a:defRPr sz="1600"/>
            </a:pPr>
            <a:r>
              <a:t>  • Output: Authentic/Manipulated +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Crime Prediction (XGBoost + Random Forest)</a:t>
            </a:r>
          </a:p>
          <a:p>
            <a:pPr>
              <a:spcAft>
                <a:spcPts val="600"/>
              </a:spcAft>
              <a:defRPr sz="1600"/>
            </a:pPr>
            <a:r>
              <a:t>  • Model: Ensemble learning approach</a:t>
            </a:r>
          </a:p>
          <a:p>
            <a:pPr>
              <a:spcAft>
                <a:spcPts val="600"/>
              </a:spcAft>
              <a:defRPr sz="1600"/>
            </a:pPr>
            <a:r>
              <a:t>  • Input: Location + time + historical data</a:t>
            </a:r>
          </a:p>
          <a:p>
            <a:pPr>
              <a:spcAft>
                <a:spcPts val="600"/>
              </a:spcAft>
              <a:defRPr sz="1600"/>
            </a:pPr>
            <a:r>
              <a:t>  • Processing: Spatial + trend analysis</a:t>
            </a:r>
          </a:p>
          <a:p>
            <a:pPr>
              <a:spcAft>
                <a:spcPts val="600"/>
              </a:spcAft>
              <a:defRPr sz="1600"/>
            </a:pPr>
            <a:r>
              <a:t>  • Output: Risk score + heatmap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Smart Surveillance (YOLOv8 + OpenCV)</a:t>
            </a:r>
          </a:p>
          <a:p>
            <a:pPr>
              <a:spcAft>
                <a:spcPts val="600"/>
              </a:spcAft>
              <a:defRPr sz="1600"/>
            </a:pPr>
            <a:r>
              <a:t>  • Model: Object detection + activity recognition</a:t>
            </a:r>
          </a:p>
          <a:p>
            <a:pPr>
              <a:spcAft>
                <a:spcPts val="600"/>
              </a:spcAft>
              <a:defRPr sz="1600"/>
            </a:pPr>
            <a:r>
              <a:t>  • Input: Real-time CCTV feeds</a:t>
            </a:r>
          </a:p>
          <a:p>
            <a:pPr>
              <a:spcAft>
                <a:spcPts val="600"/>
              </a:spcAft>
              <a:defRPr sz="1600"/>
            </a:pPr>
            <a:r>
              <a:t>  • Processing: Frame-by-frame analysis</a:t>
            </a:r>
          </a:p>
          <a:p>
            <a:pPr>
              <a:spcAft>
                <a:spcPts val="600"/>
              </a:spcAft>
              <a:defRPr sz="1600"/>
            </a:pPr>
            <a:r>
              <a:t>  • Output: Alert types + confidence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Frontend Layer:</a:t>
            </a:r>
          </a:p>
          <a:p>
            <a:pPr>
              <a:spcAft>
                <a:spcPts val="600"/>
              </a:spcAft>
              <a:defRPr sz="1600"/>
            </a:pPr>
            <a:r>
              <a:t>  • React.js - Component-based UI</a:t>
            </a:r>
          </a:p>
          <a:p>
            <a:pPr>
              <a:spcAft>
                <a:spcPts val="600"/>
              </a:spcAft>
              <a:defRPr sz="1600"/>
            </a:pPr>
            <a:r>
              <a:t>  • Tailwind CSS - Modern styling</a:t>
            </a:r>
          </a:p>
          <a:p>
            <a:pPr>
              <a:spcAft>
                <a:spcPts val="600"/>
              </a:spcAft>
              <a:defRPr sz="1600"/>
            </a:pPr>
            <a:r>
              <a:t>  • Chart.js - Data visualization</a:t>
            </a:r>
          </a:p>
          <a:p>
            <a:pPr>
              <a:spcAft>
                <a:spcPts val="600"/>
              </a:spcAft>
              <a:defRPr sz="1600"/>
            </a:pPr>
            <a:r>
              <a:t>  • Socket.io - Real-time updates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Backend Layer:</a:t>
            </a:r>
          </a:p>
          <a:p>
            <a:pPr>
              <a:spcAft>
                <a:spcPts val="600"/>
              </a:spcAft>
              <a:defRPr sz="1600"/>
            </a:pPr>
            <a:r>
              <a:t>  • FastAPI - Python backend for AI</a:t>
            </a:r>
          </a:p>
          <a:p>
            <a:pPr>
              <a:spcAft>
                <a:spcPts val="600"/>
              </a:spcAft>
              <a:defRPr sz="1600"/>
            </a:pPr>
            <a:r>
              <a:t>  • Express.js - Node.js for APIs</a:t>
            </a:r>
          </a:p>
          <a:p>
            <a:pPr>
              <a:spcAft>
                <a:spcPts val="600"/>
              </a:spcAft>
              <a:defRPr sz="1600"/>
            </a:pPr>
            <a:r>
              <a:t>  • JWT - Secure authentication</a:t>
            </a:r>
          </a:p>
          <a:p>
            <a:pPr>
              <a:spcAft>
                <a:spcPts val="600"/>
              </a:spcAft>
              <a:defRPr sz="1600"/>
            </a:pPr>
            <a:r>
              <a:t>  • WebSocket - Real-time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AI/ML Stack:</a:t>
            </a:r>
          </a:p>
          <a:p>
            <a:pPr>
              <a:spcAft>
                <a:spcPts val="600"/>
              </a:spcAft>
              <a:defRPr sz="1600"/>
            </a:pPr>
            <a:r>
              <a:t>  • PyTorch - Deep learning framework</a:t>
            </a:r>
          </a:p>
          <a:p>
            <a:pPr>
              <a:spcAft>
                <a:spcPts val="600"/>
              </a:spcAft>
              <a:defRPr sz="1600"/>
            </a:pPr>
            <a:r>
              <a:t>  • TensorFlow - Alternative ML models</a:t>
            </a:r>
          </a:p>
          <a:p>
            <a:pPr>
              <a:spcAft>
                <a:spcPts val="600"/>
              </a:spcAft>
              <a:defRPr sz="1600"/>
            </a:pPr>
            <a:r>
              <a:t>  • HuggingFace - Pre-trained models</a:t>
            </a:r>
          </a:p>
          <a:p>
            <a:pPr>
              <a:spcAft>
                <a:spcPts val="600"/>
              </a:spcAft>
              <a:defRPr sz="1600"/>
            </a:pPr>
            <a:r>
              <a:t>  • OpenCV - Computer vision processing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Infrastructure:</a:t>
            </a:r>
          </a:p>
          <a:p>
            <a:pPr>
              <a:spcAft>
                <a:spcPts val="600"/>
              </a:spcAft>
              <a:defRPr sz="1600"/>
            </a:pPr>
            <a:r>
              <a:t>  • MongoDB Atlas - NoSQL database</a:t>
            </a:r>
          </a:p>
          <a:p>
            <a:pPr>
              <a:spcAft>
                <a:spcPts val="600"/>
              </a:spcAft>
              <a:defRPr sz="1600"/>
            </a:pPr>
            <a:r>
              <a:t>  • Redis - Caching and session management</a:t>
            </a:r>
          </a:p>
          <a:p>
            <a:pPr>
              <a:spcAft>
                <a:spcPts val="600"/>
              </a:spcAft>
              <a:defRPr sz="1600"/>
            </a:pPr>
            <a:r>
              <a:t>  • AWS EC2 - Cloud server (16GB RAM)</a:t>
            </a:r>
          </a:p>
          <a:p>
            <a:pPr>
              <a:spcAft>
                <a:spcPts val="600"/>
              </a:spcAft>
              <a:defRPr sz="1600"/>
            </a:pPr>
            <a:r>
              <a:t>  • Nginx - Reverse proxy and load balancing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 - 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Users Collection:</a:t>
            </a:r>
          </a:p>
          <a:p>
            <a:pPr>
              <a:spcAft>
                <a:spcPts val="1000"/>
              </a:spcAft>
              <a:defRPr sz="1800"/>
            </a:pPr>
            <a:r>
              <a:t>  • id, name, email, role, password, createdAt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Analysis Results Collection:</a:t>
            </a:r>
          </a:p>
          <a:p>
            <a:pPr>
              <a:spcAft>
                <a:spcPts val="1000"/>
              </a:spcAft>
              <a:defRPr sz="1800"/>
            </a:pPr>
            <a:r>
              <a:t>  • id, userId, type, input, result, confidence, timestamp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Crime Data Collection:</a:t>
            </a:r>
          </a:p>
          <a:p>
            <a:pPr>
              <a:spcAft>
                <a:spcPts val="1000"/>
              </a:spcAft>
              <a:defRPr sz="1800"/>
            </a:pPr>
            <a:r>
              <a:t>  • id, location (lat, lng), crimeType, riskScore, timestamp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Alerts Collection:</a:t>
            </a:r>
          </a:p>
          <a:p>
            <a:pPr>
              <a:spcAft>
                <a:spcPts val="1000"/>
              </a:spcAft>
              <a:defRPr sz="1800"/>
            </a:pPr>
            <a:r>
              <a:t>  • id, alertType, severity, description, status, timestamp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Key Features:</a:t>
            </a:r>
          </a:p>
          <a:p>
            <a:pPr>
              <a:spcAft>
                <a:spcPts val="1000"/>
              </a:spcAft>
              <a:defRPr sz="1800"/>
            </a:pPr>
            <a:r>
              <a:t>  • MongoDB for flexible schema</a:t>
            </a:r>
          </a:p>
          <a:p>
            <a:pPr>
              <a:spcAft>
                <a:spcPts val="1000"/>
              </a:spcAft>
              <a:defRPr sz="1800"/>
            </a:pPr>
            <a:r>
              <a:t>  • Redis for high-performance caching</a:t>
            </a:r>
          </a:p>
          <a:p>
            <a:pPr>
              <a:spcAft>
                <a:spcPts val="1000"/>
              </a:spcAft>
              <a:defRPr sz="1800"/>
            </a:pPr>
            <a:r>
              <a:t>  • Indexing for fast queries</a:t>
            </a:r>
          </a:p>
          <a:p>
            <a:pPr>
              <a:spcAft>
                <a:spcPts val="1000"/>
              </a:spcAft>
              <a:defRPr sz="1800"/>
            </a:pPr>
            <a:r>
              <a:t>  • Automated backup strategies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Development Process - Local to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Local Development Phase:</a:t>
            </a:r>
          </a:p>
          <a:p>
            <a:pPr>
              <a:spcAft>
                <a:spcPts val="600"/>
              </a:spcAft>
              <a:defRPr sz="1600"/>
            </a:pPr>
            <a:r>
              <a:t>  1. Environment Setup</a:t>
            </a:r>
          </a:p>
          <a:p>
            <a:pPr>
              <a:spcAft>
                <a:spcPts val="600"/>
              </a:spcAft>
              <a:defRPr sz="1600"/>
            </a:pPr>
            <a:r>
              <a:t>     • Install Python, Node.js, MongoDB</a:t>
            </a:r>
          </a:p>
          <a:p>
            <a:pPr>
              <a:spcAft>
                <a:spcPts val="600"/>
              </a:spcAft>
              <a:defRPr sz="1600"/>
            </a:pPr>
            <a:r>
              <a:t>     • Configure development environment</a:t>
            </a:r>
          </a:p>
          <a:p>
            <a:pPr>
              <a:spcAft>
                <a:spcPts val="600"/>
              </a:spcAft>
              <a:defRPr sz="1600"/>
            </a:pPr>
            <a:r>
              <a:t>  2. Component Development</a:t>
            </a:r>
          </a:p>
          <a:p>
            <a:pPr>
              <a:spcAft>
                <a:spcPts val="600"/>
              </a:spcAft>
              <a:defRPr sz="1600"/>
            </a:pPr>
            <a:r>
              <a:t>     • Build frontend components</a:t>
            </a:r>
          </a:p>
          <a:p>
            <a:pPr>
              <a:spcAft>
                <a:spcPts val="600"/>
              </a:spcAft>
              <a:defRPr sz="1600"/>
            </a:pPr>
            <a:r>
              <a:t>     • Develop backend APIs</a:t>
            </a:r>
          </a:p>
          <a:p>
            <a:pPr>
              <a:spcAft>
                <a:spcPts val="600"/>
              </a:spcAft>
              <a:defRPr sz="1600"/>
            </a:pPr>
            <a:r>
              <a:t>     • Integrate AI models</a:t>
            </a:r>
          </a:p>
          <a:p>
            <a:pPr>
              <a:spcAft>
                <a:spcPts val="600"/>
              </a:spcAft>
              <a:defRPr sz="1600"/>
            </a:pPr>
            <a:r>
              <a:t>  3. Testing &amp; Validation</a:t>
            </a:r>
          </a:p>
          <a:p>
            <a:pPr>
              <a:spcAft>
                <a:spcPts val="600"/>
              </a:spcAft>
              <a:defRPr sz="1600"/>
            </a:pPr>
            <a:r>
              <a:t>     • Unit testing, integration testing</a:t>
            </a:r>
          </a:p>
          <a:p>
            <a:pPr>
              <a:spcAft>
                <a:spcPts val="600"/>
              </a:spcAft>
              <a:defRPr sz="1600"/>
            </a:pPr>
            <a:r>
              <a:t>     • Performance testing</a:t>
            </a:r>
          </a:p>
          <a:p>
            <a:pPr>
              <a:spcAft>
                <a:spcPts val="600"/>
              </a:spcAft>
              <a:defRPr sz="1600"/>
            </a:pPr>
            <a:r>
              <a:t>  4. Local Deployment</a:t>
            </a:r>
          </a:p>
          <a:p>
            <a:pPr>
              <a:spcAft>
                <a:spcPts val="600"/>
              </a:spcAft>
              <a:defRPr sz="1600"/>
            </a:pPr>
            <a:r>
              <a:t>     • Docker containerization</a:t>
            </a:r>
          </a:p>
          <a:p>
            <a:pPr>
              <a:spcAft>
                <a:spcPts val="600"/>
              </a:spcAft>
              <a:defRPr sz="1600"/>
            </a:pPr>
            <a:r>
              <a:t>     • Local server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AWS Deployment Phase:</a:t>
            </a:r>
          </a:p>
          <a:p>
            <a:pPr>
              <a:spcAft>
                <a:spcPts val="600"/>
              </a:spcAft>
              <a:defRPr sz="1600"/>
            </a:pPr>
            <a:r>
              <a:t>  1. Server Preparation</a:t>
            </a:r>
          </a:p>
          <a:p>
            <a:pPr>
              <a:spcAft>
                <a:spcPts val="600"/>
              </a:spcAft>
              <a:defRPr sz="1600"/>
            </a:pPr>
            <a:r>
              <a:t>     • AWS EC2 setup (16GB RAM)</a:t>
            </a:r>
          </a:p>
          <a:p>
            <a:pPr>
              <a:spcAft>
                <a:spcPts val="600"/>
              </a:spcAft>
              <a:defRPr sz="1600"/>
            </a:pPr>
            <a:r>
              <a:t>     • Security group configuration</a:t>
            </a:r>
          </a:p>
          <a:p>
            <a:pPr>
              <a:spcAft>
                <a:spcPts val="600"/>
              </a:spcAft>
              <a:defRPr sz="1600"/>
            </a:pPr>
            <a:r>
              <a:t>  2. Application Deployment</a:t>
            </a:r>
          </a:p>
          <a:p>
            <a:pPr>
              <a:spcAft>
                <a:spcPts val="600"/>
              </a:spcAft>
              <a:defRPr sz="1600"/>
            </a:pPr>
            <a:r>
              <a:t>     • Code deployment to AWS</a:t>
            </a:r>
          </a:p>
          <a:p>
            <a:pPr>
              <a:spcAft>
                <a:spcPts val="600"/>
              </a:spcAft>
              <a:defRPr sz="1600"/>
            </a:pPr>
            <a:r>
              <a:t>     • Database migration to cloud</a:t>
            </a:r>
          </a:p>
          <a:p>
            <a:pPr>
              <a:spcAft>
                <a:spcPts val="600"/>
              </a:spcAft>
              <a:defRPr sz="1600"/>
            </a:pPr>
            <a:r>
              <a:t>     • Environment configuration</a:t>
            </a:r>
          </a:p>
          <a:p>
            <a:pPr>
              <a:spcAft>
                <a:spcPts val="600"/>
              </a:spcAft>
              <a:defRPr sz="1600"/>
            </a:pPr>
            <a:r>
              <a:t>  3. Production Testing</a:t>
            </a:r>
          </a:p>
          <a:p>
            <a:pPr>
              <a:spcAft>
                <a:spcPts val="600"/>
              </a:spcAft>
              <a:defRPr sz="1600"/>
            </a:pPr>
            <a:r>
              <a:t>     • Load testing, security testing</a:t>
            </a:r>
          </a:p>
          <a:p>
            <a:pPr>
              <a:spcAft>
                <a:spcPts val="600"/>
              </a:spcAft>
              <a:defRPr sz="1600"/>
            </a:pPr>
            <a:r>
              <a:t>     • Performance optimization</a:t>
            </a:r>
          </a:p>
          <a:p>
            <a:pPr>
              <a:spcAft>
                <a:spcPts val="600"/>
              </a:spcAft>
              <a:defRPr sz="1600"/>
            </a:pPr>
            <a:r>
              <a:t>  4. Go Live</a:t>
            </a:r>
          </a:p>
          <a:p>
            <a:pPr>
              <a:spcAft>
                <a:spcPts val="600"/>
              </a:spcAft>
              <a:defRPr sz="1600"/>
            </a:pPr>
            <a:r>
              <a:t>     • Final deployment</a:t>
            </a:r>
          </a:p>
          <a:p>
            <a:pPr>
              <a:spcAft>
                <a:spcPts val="600"/>
              </a:spcAft>
              <a:defRPr sz="1600"/>
            </a:pPr>
            <a:r>
              <a:t>     • Monitoring setup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Timeline - 16 Weeks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Phase 1: Basic Version (Weeks 1-4)</a:t>
            </a:r>
          </a:p>
          <a:p>
            <a:pPr>
              <a:spcAft>
                <a:spcPts val="1000"/>
              </a:spcAft>
              <a:defRPr sz="1800"/>
            </a:pPr>
            <a:r>
              <a:t>  • Week 1: Project setup + Basic UI</a:t>
            </a:r>
          </a:p>
          <a:p>
            <a:pPr>
              <a:spcAft>
                <a:spcPts val="1000"/>
              </a:spcAft>
              <a:defRPr sz="1800"/>
            </a:pPr>
            <a:r>
              <a:t>  • Week 2: Fake News AI integration</a:t>
            </a:r>
          </a:p>
          <a:p>
            <a:pPr>
              <a:spcAft>
                <a:spcPts val="1000"/>
              </a:spcAft>
              <a:defRPr sz="1800"/>
            </a:pPr>
            <a:r>
              <a:t>  • Week 3: Backend API development</a:t>
            </a:r>
          </a:p>
          <a:p>
            <a:pPr>
              <a:spcAft>
                <a:spcPts val="1000"/>
              </a:spcAft>
              <a:defRPr sz="1800"/>
            </a:pPr>
            <a:r>
              <a:t>  • Week 4: Testing + Documentation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Phase 2: Intermediate Version (Weeks 5-10)</a:t>
            </a:r>
          </a:p>
          <a:p>
            <a:pPr>
              <a:spcAft>
                <a:spcPts val="1000"/>
              </a:spcAft>
              <a:defRPr sz="1800"/>
            </a:pPr>
            <a:r>
              <a:t>  • Week 5: Authentication system</a:t>
            </a:r>
          </a:p>
          <a:p>
            <a:pPr>
              <a:spcAft>
                <a:spcPts val="1000"/>
              </a:spcAft>
              <a:defRPr sz="1800"/>
            </a:pPr>
            <a:r>
              <a:t>  • Week 6: Database integration</a:t>
            </a:r>
          </a:p>
          <a:p>
            <a:pPr>
              <a:spcAft>
                <a:spcPts val="1000"/>
              </a:spcAft>
              <a:defRPr sz="1800"/>
            </a:pPr>
            <a:r>
              <a:t>  • Week 7: Deepfake AI module</a:t>
            </a:r>
          </a:p>
          <a:p>
            <a:pPr>
              <a:spcAft>
                <a:spcPts val="1000"/>
              </a:spcAft>
              <a:defRPr sz="1800"/>
            </a:pPr>
            <a:r>
              <a:t>  • Week 8: Enhanced UI/UX</a:t>
            </a:r>
          </a:p>
          <a:p>
            <a:pPr>
              <a:spcAft>
                <a:spcPts val="1000"/>
              </a:spcAft>
              <a:defRPr sz="1800"/>
            </a:pPr>
            <a:r>
              <a:t>  • Week 9: API integration</a:t>
            </a:r>
          </a:p>
          <a:p>
            <a:pPr>
              <a:spcAft>
                <a:spcPts val="1000"/>
              </a:spcAft>
              <a:defRPr sz="1800"/>
            </a:pPr>
            <a:r>
              <a:t>  • Week 10: Comprehensive testing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Phase 3: Advanced Version (Weeks 11-16)</a:t>
            </a:r>
          </a:p>
          <a:p>
            <a:pPr>
              <a:spcAft>
                <a:spcPts val="1000"/>
              </a:spcAft>
              <a:defRPr sz="1800"/>
            </a:pPr>
            <a:r>
              <a:t>  • Week 11-12: Crime Prediction module</a:t>
            </a:r>
          </a:p>
          <a:p>
            <a:pPr>
              <a:spcAft>
                <a:spcPts val="1000"/>
              </a:spcAft>
              <a:defRPr sz="1800"/>
            </a:pPr>
            <a:r>
              <a:t>  • Week 13: Real-time Surveillance</a:t>
            </a:r>
          </a:p>
          <a:p>
            <a:pPr>
              <a:spcAft>
                <a:spcPts val="1000"/>
              </a:spcAft>
              <a:defRPr sz="1800"/>
            </a:pPr>
            <a:r>
              <a:t>  • Week 14: Alert system implementation</a:t>
            </a:r>
          </a:p>
          <a:p>
            <a:pPr>
              <a:spcAft>
                <a:spcPts val="1000"/>
              </a:spcAft>
              <a:defRPr sz="1800"/>
            </a:pPr>
            <a:r>
              <a:t>  • Week 15: AWS deployment preparation</a:t>
            </a:r>
          </a:p>
          <a:p>
            <a:pPr>
              <a:spcAft>
                <a:spcPts val="1000"/>
              </a:spcAft>
              <a:defRPr sz="1800"/>
            </a:pPr>
            <a:r>
              <a:t>  • Week 16: Production deployment + Final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Deployment Strategy - Cloud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AWS Resources Configuration:</a:t>
            </a:r>
          </a:p>
          <a:p>
            <a:pPr>
              <a:spcAft>
                <a:spcPts val="1000"/>
              </a:spcAft>
              <a:defRPr sz="1800"/>
            </a:pPr>
            <a:r>
              <a:t>  • EC2 Instance: t3.xlarge (4 vCPU, 16GB RAM)</a:t>
            </a:r>
          </a:p>
          <a:p>
            <a:pPr>
              <a:spcAft>
                <a:spcPts val="1000"/>
              </a:spcAft>
              <a:defRPr sz="1800"/>
            </a:pPr>
            <a:r>
              <a:t>  • Security Groups: HTTP (80), HTTPS (443), SSH (22)</a:t>
            </a:r>
          </a:p>
          <a:p>
            <a:pPr>
              <a:spcAft>
                <a:spcPts val="1000"/>
              </a:spcAft>
              <a:defRPr sz="1800"/>
            </a:pPr>
            <a:r>
              <a:t>  • Elastic IP: Static IP assignment</a:t>
            </a:r>
          </a:p>
          <a:p>
            <a:pPr>
              <a:spcAft>
                <a:spcPts val="1000"/>
              </a:spcAft>
              <a:defRPr sz="1800"/>
            </a:pPr>
            <a:r>
              <a:t>  • Domain: Custom domain with SSL certificate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Deployment Steps:</a:t>
            </a:r>
          </a:p>
          <a:p>
            <a:pPr>
              <a:spcAft>
                <a:spcPts val="1000"/>
              </a:spcAft>
              <a:defRPr sz="1800"/>
            </a:pPr>
            <a:r>
              <a:t>  1. Server Setup: Install Python, Node.js, MongoDB, Nginx, Docker</a:t>
            </a:r>
          </a:p>
          <a:p>
            <a:pPr>
              <a:spcAft>
                <a:spcPts val="1000"/>
              </a:spcAft>
              <a:defRPr sz="1800"/>
            </a:pPr>
            <a:r>
              <a:t>  2. Application Deployment: Setup Git, pull code, install dependencies</a:t>
            </a:r>
          </a:p>
          <a:p>
            <a:pPr>
              <a:spcAft>
                <a:spcPts val="1000"/>
              </a:spcAft>
              <a:defRPr sz="1800"/>
            </a:pPr>
            <a:r>
              <a:t>  3. Database Migration: Configure MongoDB, create collections, import data</a:t>
            </a:r>
          </a:p>
          <a:p>
            <a:pPr>
              <a:spcAft>
                <a:spcPts val="1000"/>
              </a:spcAft>
              <a:defRPr sz="1800"/>
            </a:pPr>
            <a:r>
              <a:t>  4. Service Configuration: Configure Nginx, SSL, auto-start services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Key Features:</a:t>
            </a:r>
          </a:p>
          <a:p>
            <a:pPr>
              <a:spcAft>
                <a:spcPts val="1000"/>
              </a:spcAft>
              <a:defRPr sz="1800"/>
            </a:pPr>
            <a:r>
              <a:t>  • Automated deployment pipeline</a:t>
            </a:r>
          </a:p>
          <a:p>
            <a:pPr>
              <a:spcAft>
                <a:spcPts val="1000"/>
              </a:spcAft>
              <a:defRPr sz="1800"/>
            </a:pPr>
            <a:r>
              <a:t>  • SSL/HTTPS encryption</a:t>
            </a:r>
          </a:p>
          <a:p>
            <a:pPr>
              <a:spcAft>
                <a:spcPts val="1000"/>
              </a:spcAft>
              <a:defRPr sz="1800"/>
            </a:pPr>
            <a:r>
              <a:t>  • Auto-scaling configuration</a:t>
            </a:r>
          </a:p>
          <a:p>
            <a:pPr>
              <a:spcAft>
                <a:spcPts val="1000"/>
              </a:spcAft>
              <a:defRPr sz="1800"/>
            </a:pPr>
            <a:r>
              <a:t>  • Monitoring and logging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UI/UX Design - Modern Dashboard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Design Philosophy:</a:t>
            </a:r>
          </a:p>
          <a:p>
            <a:pPr>
              <a:spcAft>
                <a:spcPts val="1000"/>
              </a:spcAft>
              <a:defRPr sz="1800"/>
            </a:pPr>
            <a:r>
              <a:t>  • Dark Modern Theme with glassmorphism effects</a:t>
            </a:r>
          </a:p>
          <a:p>
            <a:pPr>
              <a:spcAft>
                <a:spcPts val="1000"/>
              </a:spcAft>
              <a:defRPr sz="1800"/>
            </a:pPr>
            <a:r>
              <a:t>  • Neon Cyber Aesthetic for security focus</a:t>
            </a:r>
          </a:p>
          <a:p>
            <a:pPr>
              <a:spcAft>
                <a:spcPts val="1000"/>
              </a:spcAft>
              <a:defRPr sz="1800"/>
            </a:pPr>
            <a:r>
              <a:t>  • Responsive Design for all devices</a:t>
            </a:r>
          </a:p>
          <a:p>
            <a:pPr>
              <a:spcAft>
                <a:spcPts val="1000"/>
              </a:spcAft>
              <a:defRPr sz="1800"/>
            </a:pPr>
            <a:r>
              <a:t>  • Accessibility for all users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Core Pages:</a:t>
            </a:r>
          </a:p>
          <a:p>
            <a:pPr>
              <a:spcAft>
                <a:spcPts val="1000"/>
              </a:spcAft>
              <a:defRPr sz="1800"/>
            </a:pPr>
            <a:r>
              <a:t>  • Login/Register Page: Secure authentication, role-based access</a:t>
            </a:r>
          </a:p>
          <a:p>
            <a:pPr>
              <a:spcAft>
                <a:spcPts val="1000"/>
              </a:spcAft>
              <a:defRPr sz="1800"/>
            </a:pPr>
            <a:r>
              <a:t>  • Main Dashboard: System status, recent activities, quick actions</a:t>
            </a:r>
          </a:p>
          <a:p>
            <a:pPr>
              <a:spcAft>
                <a:spcPts val="1000"/>
              </a:spcAft>
              <a:defRPr sz="1800"/>
            </a:pPr>
            <a:r>
              <a:t>  • Fake News Analyzer: Text input, URL analysis, historical results</a:t>
            </a:r>
          </a:p>
          <a:p>
            <a:pPr>
              <a:spcAft>
                <a:spcPts val="1000"/>
              </a:spcAft>
              <a:defRPr sz="1800"/>
            </a:pPr>
            <a:r>
              <a:t>  • Deepfake Detection: Video/image upload, processing indicators</a:t>
            </a:r>
          </a:p>
          <a:p>
            <a:pPr>
              <a:spcAft>
                <a:spcPts val="1000"/>
              </a:spcAft>
              <a:defRPr sz="1800"/>
            </a:pPr>
            <a:r>
              <a:t>  • Crime Analytics: Interactive heatmap, crime trends, risk assessment</a:t>
            </a:r>
          </a:p>
          <a:p>
            <a:pPr>
              <a:spcAft>
                <a:spcPts val="1000"/>
              </a:spcAft>
              <a:defRPr sz="1800"/>
            </a:pPr>
            <a:r>
              <a:t>  • Alert Center: Real-time notifications, alert categorization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Privacy - Comprehensive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Application Security:</a:t>
            </a:r>
          </a:p>
          <a:p>
            <a:pPr>
              <a:spcAft>
                <a:spcPts val="1000"/>
              </a:spcAft>
              <a:defRPr sz="1800"/>
            </a:pPr>
            <a:r>
              <a:t>  • JWT Authentication with refresh tokens</a:t>
            </a:r>
          </a:p>
          <a:p>
            <a:pPr>
              <a:spcAft>
                <a:spcPts val="1000"/>
              </a:spcAft>
              <a:defRPr sz="1800"/>
            </a:pPr>
            <a:r>
              <a:t>  • Password hashing (bcrypt)</a:t>
            </a:r>
          </a:p>
          <a:p>
            <a:pPr>
              <a:spcAft>
                <a:spcPts val="1000"/>
              </a:spcAft>
              <a:defRPr sz="1800"/>
            </a:pPr>
            <a:r>
              <a:t>  • SQL injection prevention, XSS protection</a:t>
            </a:r>
          </a:p>
          <a:p>
            <a:pPr>
              <a:spcAft>
                <a:spcPts val="1000"/>
              </a:spcAft>
              <a:defRPr sz="1800"/>
            </a:pPr>
            <a:r>
              <a:t>  • CSRF tokens, rate limiting (100 requests/minute)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Data Privacy:</a:t>
            </a:r>
          </a:p>
          <a:p>
            <a:pPr>
              <a:spcAft>
                <a:spcPts val="1000"/>
              </a:spcAft>
              <a:defRPr sz="1800"/>
            </a:pPr>
            <a:r>
              <a:t>  • End-to-end encryption</a:t>
            </a:r>
          </a:p>
          <a:p>
            <a:pPr>
              <a:spcAft>
                <a:spcPts val="1000"/>
              </a:spcAft>
              <a:defRPr sz="1800"/>
            </a:pPr>
            <a:r>
              <a:t>  • GDPR compliance</a:t>
            </a:r>
          </a:p>
          <a:p>
            <a:pPr>
              <a:spcAft>
                <a:spcPts val="1000"/>
              </a:spcAft>
              <a:defRPr sz="1800"/>
            </a:pPr>
            <a:r>
              <a:t>  • User consent management</a:t>
            </a:r>
          </a:p>
          <a:p>
            <a:pPr>
              <a:spcAft>
                <a:spcPts val="1000"/>
              </a:spcAft>
              <a:defRPr sz="1800"/>
            </a:pPr>
            <a:r>
              <a:t>  • Data anonymization</a:t>
            </a:r>
          </a:p>
          <a:p>
            <a:pPr>
              <a:spcAft>
                <a:spcPts val="1000"/>
              </a:spcAft>
              <a:defRPr sz="1800"/>
            </a:pPr>
            <a:r>
              <a:t>  • Secure data storage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API Security:</a:t>
            </a:r>
          </a:p>
          <a:p>
            <a:pPr>
              <a:spcAft>
                <a:spcPts val="1000"/>
              </a:spcAft>
              <a:defRPr sz="1800"/>
            </a:pPr>
            <a:r>
              <a:t>  • API key authentication</a:t>
            </a:r>
          </a:p>
          <a:p>
            <a:pPr>
              <a:spcAft>
                <a:spcPts val="1000"/>
              </a:spcAft>
              <a:defRPr sz="1800"/>
            </a:pPr>
            <a:r>
              <a:t>  • Request validation and input sanitization</a:t>
            </a:r>
          </a:p>
          <a:p>
            <a:pPr>
              <a:spcAft>
                <a:spcPts val="1000"/>
              </a:spcAft>
              <a:defRPr sz="1800"/>
            </a:pPr>
            <a:r>
              <a:t>  • Secure headers, CORS configuration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Infrastructure Security:</a:t>
            </a:r>
          </a:p>
          <a:p>
            <a:pPr>
              <a:spcAft>
                <a:spcPts val="1000"/>
              </a:spcAft>
              <a:defRPr sz="1800"/>
            </a:pPr>
            <a:r>
              <a:t>  • Firewall rules, SSH key authentication</a:t>
            </a:r>
          </a:p>
          <a:p>
            <a:pPr>
              <a:spcAft>
                <a:spcPts val="1000"/>
              </a:spcAft>
              <a:defRPr sz="1800"/>
            </a:pPr>
            <a:r>
              <a:t>  • Regular system updates</a:t>
            </a:r>
          </a:p>
          <a:p>
            <a:pPr>
              <a:spcAft>
                <a:spcPts val="1000"/>
              </a:spcAft>
              <a:defRPr sz="1800"/>
            </a:pPr>
            <a:r>
              <a:t>  • SSL/TLS encryption, automated backups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Optimization - System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Performance Targets:</a:t>
            </a:r>
          </a:p>
          <a:p>
            <a:pPr>
              <a:spcAft>
                <a:spcPts val="1000"/>
              </a:spcAft>
              <a:defRPr sz="1800"/>
            </a:pPr>
            <a:r>
              <a:t>  • Response time: &lt;3 seconds for AI analysis</a:t>
            </a:r>
          </a:p>
          <a:p>
            <a:pPr>
              <a:spcAft>
                <a:spcPts val="1000"/>
              </a:spcAft>
              <a:defRPr sz="1800"/>
            </a:pPr>
            <a:r>
              <a:t>  • Concurrent users: 1000+ simultaneous users</a:t>
            </a:r>
          </a:p>
          <a:p>
            <a:pPr>
              <a:spcAft>
                <a:spcPts val="1000"/>
              </a:spcAft>
              <a:defRPr sz="1800"/>
            </a:pPr>
            <a:r>
              <a:t>  • Uptime: 99.9% availability</a:t>
            </a:r>
          </a:p>
          <a:p>
            <a:pPr>
              <a:spcAft>
                <a:spcPts val="1000"/>
              </a:spcAft>
              <a:defRPr sz="1800"/>
            </a:pPr>
            <a:r>
              <a:t>  • Throughput: 10,000+ analyses per day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Optimization Strategies:</a:t>
            </a:r>
          </a:p>
          <a:p>
            <a:pPr>
              <a:spcAft>
                <a:spcPts val="1000"/>
              </a:spcAft>
              <a:defRPr sz="1800"/>
            </a:pPr>
            <a:r>
              <a:t>  • AI Model Optimization: Model quantization, batch processing, GPU acceleration</a:t>
            </a:r>
          </a:p>
          <a:p>
            <a:pPr>
              <a:spcAft>
                <a:spcPts val="1000"/>
              </a:spcAft>
              <a:defRPr sz="1800"/>
            </a:pPr>
            <a:r>
              <a:t>  • Database Optimization: Indexing, query optimization, connection pooling, caching</a:t>
            </a:r>
          </a:p>
          <a:p>
            <a:pPr>
              <a:spcAft>
                <a:spcPts val="1000"/>
              </a:spcAft>
              <a:defRPr sz="1800"/>
            </a:pPr>
            <a:r>
              <a:t>  • Frontend Optimization: Code splitting, image optimization, lazy loading, CDN</a:t>
            </a:r>
          </a:p>
          <a:p>
            <a:pPr>
              <a:spcAft>
                <a:spcPts val="1000"/>
              </a:spcAft>
              <a:defRPr sz="1800"/>
            </a:pPr>
            <a:r>
              <a:t>  • Server Optimization: Nginx reverse proxy, Gzip compression, load balancing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Monitoring &amp; Scaling:</a:t>
            </a:r>
          </a:p>
          <a:p>
            <a:pPr>
              <a:spcAft>
                <a:spcPts val="1000"/>
              </a:spcAft>
              <a:defRPr sz="1800"/>
            </a:pPr>
            <a:r>
              <a:t>  • Real-time performance monitoring</a:t>
            </a:r>
          </a:p>
          <a:p>
            <a:pPr>
              <a:spcAft>
                <a:spcPts val="1000"/>
              </a:spcAft>
              <a:defRPr sz="1800"/>
            </a:pPr>
            <a:r>
              <a:t>  • Auto-scaling configuration</a:t>
            </a:r>
          </a:p>
          <a:p>
            <a:pPr>
              <a:spcAft>
                <a:spcPts val="1000"/>
              </a:spcAft>
              <a:defRPr sz="1800"/>
            </a:pPr>
            <a:r>
              <a:t>  • Performance benchmarking</a:t>
            </a:r>
          </a:p>
          <a:p>
            <a:pPr>
              <a:spcAft>
                <a:spcPts val="1000"/>
              </a:spcAft>
              <a:defRPr sz="1800"/>
            </a:pPr>
            <a:r>
              <a:t>  • Continuous optimization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Strategy - Quality Assurance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Testing Types:</a:t>
            </a:r>
          </a:p>
          <a:p>
            <a:pPr>
              <a:spcAft>
                <a:spcPts val="1000"/>
              </a:spcAft>
              <a:defRPr sz="1800"/>
            </a:pPr>
            <a:r>
              <a:t>  1. Unit Testing: Individual components, 90% code coverage</a:t>
            </a:r>
          </a:p>
          <a:p>
            <a:pPr>
              <a:spcAft>
                <a:spcPts val="1000"/>
              </a:spcAft>
              <a:defRPr sz="1800"/>
            </a:pPr>
            <a:r>
              <a:t>  2. Integration Testing: Frontend-Backend integration, API-Database integration</a:t>
            </a:r>
          </a:p>
          <a:p>
            <a:pPr>
              <a:spcAft>
                <a:spcPts val="1000"/>
              </a:spcAft>
              <a:defRPr sz="1800"/>
            </a:pPr>
            <a:r>
              <a:t>  3. Performance Testing: Load testing, stress testing, scalability testing</a:t>
            </a:r>
          </a:p>
          <a:p>
            <a:pPr>
              <a:spcAft>
                <a:spcPts val="1000"/>
              </a:spcAft>
              <a:defRPr sz="1800"/>
            </a:pPr>
            <a:r>
              <a:t>  4. Security Testing: Penetration testing, vulnerability scanning, security audit</a:t>
            </a:r>
          </a:p>
          <a:p>
            <a:pPr>
              <a:spcAft>
                <a:spcPts val="1000"/>
              </a:spcAft>
              <a:defRPr sz="1800"/>
            </a:pPr>
            <a:r>
              <a:t>  5. User Acceptance Testing: Real user testing, usability testing, mobile testing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Testing Tools:</a:t>
            </a:r>
          </a:p>
          <a:p>
            <a:pPr>
              <a:spcAft>
                <a:spcPts val="1000"/>
              </a:spcAft>
              <a:defRPr sz="1800"/>
            </a:pPr>
            <a:r>
              <a:t>  • Jest, PyTest (Unit testing)</a:t>
            </a:r>
          </a:p>
          <a:p>
            <a:pPr>
              <a:spcAft>
                <a:spcPts val="1000"/>
              </a:spcAft>
              <a:defRPr sz="1800"/>
            </a:pPr>
            <a:r>
              <a:t>  • Postman, Insomnia (API testing)</a:t>
            </a:r>
          </a:p>
          <a:p>
            <a:pPr>
              <a:spcAft>
                <a:spcPts val="1000"/>
              </a:spcAft>
              <a:defRPr sz="1800"/>
            </a:pPr>
            <a:r>
              <a:t>  • Selenium, Cypress (UI testing)</a:t>
            </a:r>
          </a:p>
          <a:p>
            <a:pPr>
              <a:spcAft>
                <a:spcPts val="1000"/>
              </a:spcAft>
              <a:defRPr sz="1800"/>
            </a:pPr>
            <a:r>
              <a:t>  • OWASP ZAP (Security testing)</a:t>
            </a:r>
          </a:p>
          <a:p>
            <a:pPr>
              <a:spcAft>
                <a:spcPts val="1000"/>
              </a:spcAft>
              <a:defRPr sz="1800"/>
            </a:pPr>
            <a:r>
              <a:t>  • Google Lighthouse (Performance testing)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Quality Assurance:</a:t>
            </a:r>
          </a:p>
          <a:p>
            <a:pPr>
              <a:spcAft>
                <a:spcPts val="1000"/>
              </a:spcAft>
              <a:defRPr sz="1800"/>
            </a:pPr>
            <a:r>
              <a:t>  • Continuous testing pipeline</a:t>
            </a:r>
          </a:p>
          <a:p>
            <a:pPr>
              <a:spcAft>
                <a:spcPts val="1000"/>
              </a:spcAft>
              <a:defRPr sz="1800"/>
            </a:pPr>
            <a:r>
              <a:t>  • Automated quality checks</a:t>
            </a:r>
          </a:p>
          <a:p>
            <a:pPr>
              <a:spcAft>
                <a:spcPts val="1000"/>
              </a:spcAft>
              <a:defRPr sz="1800"/>
            </a:pPr>
            <a:r>
              <a:t>  • Performance benchmarking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Maintenance - System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Real-time Monitoring:</a:t>
            </a:r>
          </a:p>
          <a:p>
            <a:pPr>
              <a:spcAft>
                <a:spcPts val="1000"/>
              </a:spcAft>
              <a:defRPr sz="1800"/>
            </a:pPr>
            <a:r>
              <a:t>  • Server performance (CPU, RAM, Disk)</a:t>
            </a:r>
          </a:p>
          <a:p>
            <a:pPr>
              <a:spcAft>
                <a:spcPts val="1000"/>
              </a:spcAft>
              <a:defRPr sz="1800"/>
            </a:pPr>
            <a:r>
              <a:t>  • Application metrics (requests, errors)</a:t>
            </a:r>
          </a:p>
          <a:p>
            <a:pPr>
              <a:spcAft>
                <a:spcPts val="1000"/>
              </a:spcAft>
              <a:defRPr sz="1800"/>
            </a:pPr>
            <a:r>
              <a:t>  • Database performance (query times, connections)</a:t>
            </a:r>
          </a:p>
          <a:p>
            <a:pPr>
              <a:spcAft>
                <a:spcPts val="1000"/>
              </a:spcAft>
              <a:defRPr sz="1800"/>
            </a:pPr>
            <a:r>
              <a:t>  • API response times, user activity tracking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Monitoring Tools:</a:t>
            </a:r>
          </a:p>
          <a:p>
            <a:pPr>
              <a:spcAft>
                <a:spcPts val="1000"/>
              </a:spcAft>
              <a:defRPr sz="1800"/>
            </a:pPr>
            <a:r>
              <a:t>  • Prometheus + Grafana (Metrics)</a:t>
            </a:r>
          </a:p>
          <a:p>
            <a:pPr>
              <a:spcAft>
                <a:spcPts val="1000"/>
              </a:spcAft>
              <a:defRPr sz="1800"/>
            </a:pPr>
            <a:r>
              <a:t>  • ELK Stack (Logging)</a:t>
            </a:r>
          </a:p>
          <a:p>
            <a:pPr>
              <a:spcAft>
                <a:spcPts val="1000"/>
              </a:spcAft>
              <a:defRPr sz="1800"/>
            </a:pPr>
            <a:r>
              <a:t>  • AWS CloudWatch (Infrastructure)</a:t>
            </a:r>
          </a:p>
          <a:p>
            <a:pPr>
              <a:spcAft>
                <a:spcPts val="1000"/>
              </a:spcAft>
              <a:defRPr sz="1800"/>
            </a:pPr>
            <a:r>
              <a:t>  • New Relic (APM)</a:t>
            </a:r>
          </a:p>
          <a:p>
            <a:pPr>
              <a:spcAft>
                <a:spcPts val="1000"/>
              </a:spcAft>
              <a:defRPr sz="1800"/>
            </a:pPr>
            <a:r>
              <a:t>  • Sentry (Error tracking)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Maintenance Plan:</a:t>
            </a:r>
          </a:p>
          <a:p>
            <a:pPr>
              <a:spcAft>
                <a:spcPts val="1000"/>
              </a:spcAft>
              <a:defRPr sz="1800"/>
            </a:pPr>
            <a:r>
              <a:t>  • Daily: Automated backups</a:t>
            </a:r>
          </a:p>
          <a:p>
            <a:pPr>
              <a:spcAft>
                <a:spcPts val="1000"/>
              </a:spcAft>
              <a:defRPr sz="1800"/>
            </a:pPr>
            <a:r>
              <a:t>  • Weekly: Performance review</a:t>
            </a:r>
          </a:p>
          <a:p>
            <a:pPr>
              <a:spcAft>
                <a:spcPts val="1000"/>
              </a:spcAft>
              <a:defRPr sz="1800"/>
            </a:pPr>
            <a:r>
              <a:t>  • Monthly: Security updates</a:t>
            </a:r>
          </a:p>
          <a:p>
            <a:pPr>
              <a:spcAft>
                <a:spcPts val="1000"/>
              </a:spcAft>
              <a:defRPr sz="1800"/>
            </a:pPr>
            <a:r>
              <a:t>  • Quarterly: Major upgrades</a:t>
            </a:r>
          </a:p>
          <a:p>
            <a:pPr>
              <a:spcAft>
                <a:spcPts val="1000"/>
              </a:spcAft>
              <a:defRPr sz="1800"/>
            </a:pPr>
            <a:r>
              <a:t>  • Annual: Complete system audit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Alerting Strategy:</a:t>
            </a:r>
          </a:p>
          <a:p>
            <a:pPr>
              <a:spcAft>
                <a:spcPts val="1000"/>
              </a:spcAft>
              <a:defRPr sz="1800"/>
            </a:pPr>
            <a:r>
              <a:t>  • Server downtime alerts, high error rate alerts</a:t>
            </a:r>
          </a:p>
          <a:p>
            <a:pPr>
              <a:spcAft>
                <a:spcPts val="1000"/>
              </a:spcAft>
              <a:defRPr sz="1800"/>
            </a:pPr>
            <a:r>
              <a:t>  • Performance degradation alerts, security breach alerts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Risk Management - Risk Assessment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Mitigation Strategy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 Model Inaccuracy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Ensemble models, continuous training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Server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Load testing, auto-scaling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 Breach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Encryption, security audits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Database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Redundancy, automated backups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API Rate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Caching, rate limiting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 &amp; Benefits - Project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Technical Outcomes:</a:t>
            </a:r>
          </a:p>
          <a:p>
            <a:pPr>
              <a:spcAft>
                <a:spcPts val="1000"/>
              </a:spcAft>
              <a:defRPr sz="1800"/>
            </a:pPr>
            <a:r>
              <a:t>  • 4 fully functional AI modules</a:t>
            </a:r>
          </a:p>
          <a:p>
            <a:pPr>
              <a:spcAft>
                <a:spcPts val="1000"/>
              </a:spcAft>
              <a:defRPr sz="1800"/>
            </a:pPr>
            <a:r>
              <a:t>  • 95%+ detection accuracy across models</a:t>
            </a:r>
          </a:p>
          <a:p>
            <a:pPr>
              <a:spcAft>
                <a:spcPts val="1000"/>
              </a:spcAft>
              <a:defRPr sz="1800"/>
            </a:pPr>
            <a:r>
              <a:t>  • Sub-3 second response times</a:t>
            </a:r>
          </a:p>
          <a:p>
            <a:pPr>
              <a:spcAft>
                <a:spcPts val="1000"/>
              </a:spcAft>
              <a:defRPr sz="1800"/>
            </a:pPr>
            <a:r>
              <a:t>  • Handle 1000+ concurrent users</a:t>
            </a:r>
          </a:p>
          <a:p>
            <a:pPr>
              <a:spcAft>
                <a:spcPts val="1000"/>
              </a:spcAft>
              <a:defRPr sz="1800"/>
            </a:pPr>
            <a:r>
              <a:t>  • 99.9% system uptime</a:t>
            </a:r>
          </a:p>
          <a:p>
            <a:pPr>
              <a:spcAft>
                <a:spcPts val="1000"/>
              </a:spcAft>
              <a:defRPr sz="1800"/>
            </a:pPr>
            <a:r>
              <a:t>  • Comprehensive security measures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Business Outcomes:</a:t>
            </a:r>
          </a:p>
          <a:p>
            <a:pPr>
              <a:spcAft>
                <a:spcPts val="1000"/>
              </a:spcAft>
              <a:defRPr sz="1800"/>
            </a:pPr>
            <a:r>
              <a:t>  • Production-ready platform</a:t>
            </a:r>
          </a:p>
          <a:p>
            <a:pPr>
              <a:spcAft>
                <a:spcPts val="1000"/>
              </a:spcAft>
              <a:defRPr sz="1800"/>
            </a:pPr>
            <a:r>
              <a:t>  • Scalable cloud infrastructure</a:t>
            </a:r>
          </a:p>
          <a:p>
            <a:pPr>
              <a:spcAft>
                <a:spcPts val="1000"/>
              </a:spcAft>
              <a:defRPr sz="1800"/>
            </a:pPr>
            <a:r>
              <a:t>  • Professional documentation</a:t>
            </a:r>
          </a:p>
          <a:p>
            <a:pPr>
              <a:spcAft>
                <a:spcPts val="1000"/>
              </a:spcAft>
              <a:defRPr sz="1800"/>
            </a:pPr>
            <a:r>
              <a:t>  • Deployed on AWS (16GB server)</a:t>
            </a:r>
          </a:p>
          <a:p>
            <a:pPr>
              <a:spcAft>
                <a:spcPts val="1000"/>
              </a:spcAft>
              <a:defRPr sz="1800"/>
            </a:pPr>
            <a:r>
              <a:t>  • Mobile-responsive design</a:t>
            </a:r>
          </a:p>
          <a:p>
            <a:pPr>
              <a:spcAft>
                <a:spcPts val="1000"/>
              </a:spcAft>
              <a:defRPr sz="1800"/>
            </a:pPr>
            <a:r>
              <a:t>  • Multi-language support ready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Social Impact:</a:t>
            </a:r>
          </a:p>
          <a:p>
            <a:pPr>
              <a:spcAft>
                <a:spcPts val="1000"/>
              </a:spcAft>
              <a:defRPr sz="1800"/>
            </a:pPr>
            <a:r>
              <a:t>  • Combat misinformation</a:t>
            </a:r>
          </a:p>
          <a:p>
            <a:pPr>
              <a:spcAft>
                <a:spcPts val="1000"/>
              </a:spcAft>
              <a:defRPr sz="1800"/>
            </a:pPr>
            <a:r>
              <a:t>  • Detect deepfake threats</a:t>
            </a:r>
          </a:p>
          <a:p>
            <a:pPr>
              <a:spcAft>
                <a:spcPts val="1000"/>
              </a:spcAft>
              <a:defRPr sz="1800"/>
            </a:pPr>
            <a:r>
              <a:t>  • Enhance public safety</a:t>
            </a:r>
          </a:p>
          <a:p>
            <a:pPr>
              <a:spcAft>
                <a:spcPts val="1000"/>
              </a:spcAft>
              <a:defRPr sz="1800"/>
            </a:pPr>
            <a:r>
              <a:t>  • Provide accessible tools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 &amp; Enhancements - Roadmap Beyond v1.0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Short-term Enhancements (3-6 months):</a:t>
            </a:r>
          </a:p>
          <a:p>
            <a:pPr>
              <a:spcAft>
                <a:spcPts val="1000"/>
              </a:spcAft>
              <a:defRPr sz="1800"/>
            </a:pPr>
            <a:r>
              <a:t>  • Mobile application (iOS/Android)</a:t>
            </a:r>
          </a:p>
          <a:p>
            <a:pPr>
              <a:spcAft>
                <a:spcPts val="1000"/>
              </a:spcAft>
              <a:defRPr sz="1800"/>
            </a:pPr>
            <a:r>
              <a:t>  • Advanced analytics dashboard</a:t>
            </a:r>
          </a:p>
          <a:p>
            <a:pPr>
              <a:spcAft>
                <a:spcPts val="1000"/>
              </a:spcAft>
              <a:defRPr sz="1800"/>
            </a:pPr>
            <a:r>
              <a:t>  • Multi-language support</a:t>
            </a:r>
          </a:p>
          <a:p>
            <a:pPr>
              <a:spcAft>
                <a:spcPts val="1000"/>
              </a:spcAft>
              <a:defRPr sz="1800"/>
            </a:pPr>
            <a:r>
              <a:t>  • Integration with social media APIs</a:t>
            </a:r>
          </a:p>
          <a:p>
            <a:pPr>
              <a:spcAft>
                <a:spcPts val="1000"/>
              </a:spcAft>
              <a:defRPr sz="1800"/>
            </a:pPr>
            <a:r>
              <a:t>  • Enhanced crime prediction models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Medium-term Goals (6-12 months):</a:t>
            </a:r>
          </a:p>
          <a:p>
            <a:pPr>
              <a:spcAft>
                <a:spcPts val="1000"/>
              </a:spcAft>
              <a:defRPr sz="1800"/>
            </a:pPr>
            <a:r>
              <a:t>  • Voice deepfake detection</a:t>
            </a:r>
          </a:p>
          <a:p>
            <a:pPr>
              <a:spcAft>
                <a:spcPts val="1000"/>
              </a:spcAft>
              <a:defRPr sz="1800"/>
            </a:pPr>
            <a:r>
              <a:t>  • Real-time social media monitoring</a:t>
            </a:r>
          </a:p>
          <a:p>
            <a:pPr>
              <a:spcAft>
                <a:spcPts val="1000"/>
              </a:spcAft>
              <a:defRPr sz="1800"/>
            </a:pPr>
            <a:r>
              <a:t>  • Integration with law enforcement systems</a:t>
            </a:r>
          </a:p>
          <a:p>
            <a:pPr>
              <a:spcAft>
                <a:spcPts val="1000"/>
              </a:spcAft>
              <a:defRPr sz="1800"/>
            </a:pPr>
            <a:r>
              <a:t>  • Enterprise features (SSO, advanced permissions)</a:t>
            </a:r>
          </a:p>
          <a:p>
            <a:pPr>
              <a:spcAft>
                <a:spcPts val="1000"/>
              </a:spcAft>
              <a:defRPr sz="1800"/>
            </a:pPr>
            <a:r>
              <a:t>  • Global threat intelligence network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Long-term Vision (1-2 years):</a:t>
            </a:r>
          </a:p>
          <a:p>
            <a:pPr>
              <a:spcAft>
                <a:spcPts val="1000"/>
              </a:spcAft>
              <a:defRPr sz="1800"/>
            </a:pPr>
            <a:r>
              <a:t>  • AI assistant integration</a:t>
            </a:r>
          </a:p>
          <a:p>
            <a:pPr>
              <a:spcAft>
                <a:spcPts val="1000"/>
              </a:spcAft>
              <a:defRPr sz="1800"/>
            </a:pPr>
            <a:r>
              <a:t>  • Blockchain for data integrity</a:t>
            </a:r>
          </a:p>
          <a:p>
            <a:pPr>
              <a:spcAft>
                <a:spcPts val="1000"/>
              </a:spcAft>
              <a:defRPr sz="1800"/>
            </a:pPr>
            <a:r>
              <a:t>  • Edge computing deployment</a:t>
            </a:r>
          </a:p>
          <a:p>
            <a:pPr>
              <a:spcAft>
                <a:spcPts val="1000"/>
              </a:spcAft>
              <a:defRPr sz="1800"/>
            </a:pPr>
            <a:r>
              <a:t>  • Government partnerships</a:t>
            </a:r>
          </a:p>
          <a:p>
            <a:pPr>
              <a:spcAft>
                <a:spcPts val="1000"/>
              </a:spcAft>
              <a:defRPr sz="1800"/>
            </a:pPr>
            <a:r>
              <a:t>  • Public API ecosystem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Analysis - Project Budget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Development Costs:</a:t>
            </a:r>
          </a:p>
          <a:p>
            <a:pPr>
              <a:spcAft>
                <a:spcPts val="1000"/>
              </a:spcAft>
              <a:defRPr sz="1800"/>
            </a:pPr>
            <a:r>
              <a:t>  • Team time: Based on team size</a:t>
            </a:r>
          </a:p>
          <a:p>
            <a:pPr>
              <a:spcAft>
                <a:spcPts val="1000"/>
              </a:spcAft>
              <a:defRPr sz="1800"/>
            </a:pPr>
            <a:r>
              <a:t>  • Development tools: $0 (Open source)</a:t>
            </a:r>
          </a:p>
          <a:p>
            <a:pPr>
              <a:spcAft>
                <a:spcPts val="1000"/>
              </a:spcAft>
              <a:defRPr sz="1800"/>
            </a:pPr>
            <a:r>
              <a:t>  • API keys: $50-100/month (if needed)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Infrastructure Costs:</a:t>
            </a:r>
          </a:p>
          <a:p>
            <a:pPr>
              <a:spcAft>
                <a:spcPts val="1000"/>
              </a:spcAft>
              <a:defRPr sz="1800"/>
            </a:pPr>
            <a:r>
              <a:t>  • AWS EC2 (t3.xlarge): $100-150/month</a:t>
            </a:r>
          </a:p>
          <a:p>
            <a:pPr>
              <a:spcAft>
                <a:spcPts val="1000"/>
              </a:spcAft>
              <a:defRPr sz="1800"/>
            </a:pPr>
            <a:r>
              <a:t>  • MongoDB Atlas: $0-57/month</a:t>
            </a:r>
          </a:p>
          <a:p>
            <a:pPr>
              <a:spcAft>
                <a:spcPts val="1000"/>
              </a:spcAft>
              <a:defRPr sz="1800"/>
            </a:pPr>
            <a:r>
              <a:t>  • Domain + SSL: $10-50/year</a:t>
            </a:r>
          </a:p>
          <a:p>
            <a:pPr>
              <a:spcAft>
                <a:spcPts val="1000"/>
              </a:spcAft>
              <a:defRPr sz="1800"/>
            </a:pPr>
            <a:r>
              <a:t>  • CDN services: $0-20/month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Total Monthly Operating Cost:</a:t>
            </a:r>
          </a:p>
          <a:p>
            <a:pPr>
              <a:spcAft>
                <a:spcPts val="1000"/>
              </a:spcAft>
              <a:defRPr sz="1800"/>
            </a:pPr>
            <a:r>
              <a:t>  • Basic setup: $50-100/month</a:t>
            </a:r>
          </a:p>
          <a:p>
            <a:pPr>
              <a:spcAft>
                <a:spcPts val="1000"/>
              </a:spcAft>
              <a:defRPr sz="1800"/>
            </a:pPr>
            <a:r>
              <a:t>  • Full deployment: $150-250/month</a:t>
            </a:r>
          </a:p>
          <a:p>
            <a:pPr>
              <a:spcAft>
                <a:spcPts val="1000"/>
              </a:spcAft>
              <a:defRPr sz="1800"/>
            </a:pPr>
            <a:r>
              <a:t>  • High availability: $300-500/month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ROI Considerations:</a:t>
            </a:r>
          </a:p>
          <a:p>
            <a:pPr>
              <a:spcAft>
                <a:spcPts val="1000"/>
              </a:spcAft>
              <a:defRPr sz="1800"/>
            </a:pPr>
            <a:r>
              <a:t>  • Enterprise pricing: $100-500/month per organization</a:t>
            </a:r>
          </a:p>
          <a:p>
            <a:pPr>
              <a:spcAft>
                <a:spcPts val="1000"/>
              </a:spcAft>
              <a:defRPr sz="1800"/>
            </a:pPr>
            <a:r>
              <a:t>  • Government contracts: $500-2000/month</a:t>
            </a:r>
          </a:p>
          <a:p>
            <a:pPr>
              <a:spcAft>
                <a:spcPts val="1000"/>
              </a:spcAft>
              <a:defRPr sz="1800"/>
            </a:pPr>
            <a:r>
              <a:t>  • Public free tier with premium features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Performance Comparison - CyberShield AI vs Competitors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CyberShield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Competitors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Advantage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Multi-Modal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 AI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1-2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+200% Capability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Real-Time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 (&lt;3 sec)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Partial/Limited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+67% Speed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User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Modern &amp; Intuitive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Complex/Tech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+80% Usability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Cost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$150-250/mo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$500-2000/mo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+75% Savings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Cloud-based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On-premise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+100% Flexibility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Silos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+300% Efficiency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Factors - Why CyberShield AI Will Succeed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Market Demand:</a:t>
            </a:r>
          </a:p>
          <a:p>
            <a:pPr>
              <a:spcAft>
                <a:spcPts val="1000"/>
              </a:spcAft>
              <a:defRPr sz="1800"/>
            </a:pPr>
            <a:r>
              <a:t>  • Growing digital threats create urgent need</a:t>
            </a:r>
          </a:p>
          <a:p>
            <a:pPr>
              <a:spcAft>
                <a:spcPts val="1000"/>
              </a:spcAft>
              <a:defRPr sz="1800"/>
            </a:pPr>
            <a:r>
              <a:t>  • Current solutions fragmented and expensive</a:t>
            </a:r>
          </a:p>
          <a:p>
            <a:pPr>
              <a:spcAft>
                <a:spcPts val="1000"/>
              </a:spcAft>
              <a:defRPr sz="1800"/>
            </a:pPr>
            <a:r>
              <a:t>  • Increasing awareness of AI security tools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Technical Advantages:</a:t>
            </a:r>
          </a:p>
          <a:p>
            <a:pPr>
              <a:spcAft>
                <a:spcPts val="1000"/>
              </a:spcAft>
              <a:defRPr sz="1800"/>
            </a:pPr>
            <a:r>
              <a:t>  • Multi-modal approach provides comprehensive protection</a:t>
            </a:r>
          </a:p>
          <a:p>
            <a:pPr>
              <a:spcAft>
                <a:spcPts val="1000"/>
              </a:spcAft>
              <a:defRPr sz="1800"/>
            </a:pPr>
            <a:r>
              <a:t>  • Real-time processing meets modern demands</a:t>
            </a:r>
          </a:p>
          <a:p>
            <a:pPr>
              <a:spcAft>
                <a:spcPts val="1000"/>
              </a:spcAft>
              <a:defRPr sz="1800"/>
            </a:pPr>
            <a:r>
              <a:t>  • User-friendly design increases adoption</a:t>
            </a:r>
          </a:p>
          <a:p>
            <a:pPr>
              <a:spcAft>
                <a:spcPts val="1000"/>
              </a:spcAft>
              <a:defRPr sz="1800"/>
            </a:pPr>
            <a:r>
              <a:t>  • Scalable architecture supports growth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Competitive Edge:</a:t>
            </a:r>
          </a:p>
          <a:p>
            <a:pPr>
              <a:spcAft>
                <a:spcPts val="1000"/>
              </a:spcAft>
              <a:defRPr sz="1800"/>
            </a:pPr>
            <a:r>
              <a:t>  • First unified platform with multiple AI modules</a:t>
            </a:r>
          </a:p>
          <a:p>
            <a:pPr>
              <a:spcAft>
                <a:spcPts val="1000"/>
              </a:spcAft>
              <a:defRPr sz="1800"/>
            </a:pPr>
            <a:r>
              <a:t>  • Superior performance across all detection types</a:t>
            </a:r>
          </a:p>
          <a:p>
            <a:pPr>
              <a:spcAft>
                <a:spcPts val="1000"/>
              </a:spcAft>
              <a:defRPr sz="1800"/>
            </a:pPr>
            <a:r>
              <a:t>  • Cost-effective solution for mass adoption</a:t>
            </a:r>
          </a:p>
          <a:p>
            <a:pPr>
              <a:spcAft>
                <a:spcPts val="1000"/>
              </a:spcAft>
              <a:defRPr sz="1800"/>
            </a:pPr>
            <a:r>
              <a:t>  • Strong privacy and security features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Implementation Strategy:</a:t>
            </a:r>
          </a:p>
          <a:p>
            <a:pPr>
              <a:spcAft>
                <a:spcPts val="1000"/>
              </a:spcAft>
              <a:defRPr sz="1800"/>
            </a:pPr>
            <a:r>
              <a:t>  • Phased development reduces risk</a:t>
            </a:r>
          </a:p>
          <a:p>
            <a:pPr>
              <a:spcAft>
                <a:spcPts val="1000"/>
              </a:spcAft>
              <a:defRPr sz="1800"/>
            </a:pPr>
            <a:r>
              <a:t>  • Proven technology stack ensures reliability</a:t>
            </a:r>
          </a:p>
          <a:p>
            <a:pPr>
              <a:spcAft>
                <a:spcPts val="1000"/>
              </a:spcAft>
              <a:defRPr sz="1800"/>
            </a:pPr>
            <a:r>
              <a:t>  • Cloud deployment enables scalability</a:t>
            </a:r>
          </a:p>
          <a:p>
            <a:pPr>
              <a:spcAft>
                <a:spcPts val="1000"/>
              </a:spcAft>
              <a:defRPr sz="1800"/>
            </a:pPr>
            <a:r>
              <a:t>  • Continuous improvement roadmap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- 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CyberShield AI represents a comprehensive, production-ready solution to combat digital threats through advanced AI technologies.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Key Achievements:</a:t>
            </a:r>
          </a:p>
          <a:p>
            <a:pPr>
              <a:spcAft>
                <a:spcPts val="1000"/>
              </a:spcAft>
              <a:defRPr sz="1800"/>
            </a:pPr>
            <a:r>
              <a:t>  • Four integrated AI detection modules</a:t>
            </a:r>
          </a:p>
          <a:p>
            <a:pPr>
              <a:spcAft>
                <a:spcPts val="1000"/>
              </a:spcAft>
              <a:defRPr sz="1800"/>
            </a:pPr>
            <a:r>
              <a:t>  • Modern, user-friendly interface</a:t>
            </a:r>
          </a:p>
          <a:p>
            <a:pPr>
              <a:spcAft>
                <a:spcPts val="1000"/>
              </a:spcAft>
              <a:defRPr sz="1800"/>
            </a:pPr>
            <a:r>
              <a:t>  • Scalable cloud infrastructure</a:t>
            </a:r>
          </a:p>
          <a:p>
            <a:pPr>
              <a:spcAft>
                <a:spcPts val="1000"/>
              </a:spcAft>
              <a:defRPr sz="1800"/>
            </a:pPr>
            <a:r>
              <a:t>  • Robust security measures</a:t>
            </a:r>
          </a:p>
          <a:p>
            <a:pPr>
              <a:spcAft>
                <a:spcPts val="1000"/>
              </a:spcAft>
              <a:defRPr sz="1800"/>
            </a:pPr>
            <a:r>
              <a:t>  • Real-time threat detection</a:t>
            </a:r>
          </a:p>
          <a:p>
            <a:pPr>
              <a:spcAft>
                <a:spcPts val="1000"/>
              </a:spcAft>
              <a:defRPr sz="1800"/>
            </a:pPr>
            <a:r>
              <a:t>  • Professional deployment pipeline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Success Factors:</a:t>
            </a:r>
          </a:p>
          <a:p>
            <a:pPr>
              <a:spcAft>
                <a:spcPts val="1000"/>
              </a:spcAft>
              <a:defRPr sz="1800"/>
            </a:pPr>
            <a:r>
              <a:t>  • Phased development approach</a:t>
            </a:r>
          </a:p>
          <a:p>
            <a:pPr>
              <a:spcAft>
                <a:spcPts val="1000"/>
              </a:spcAft>
              <a:defRPr sz="1800"/>
            </a:pPr>
            <a:r>
              <a:t>  • Proven technology stack</a:t>
            </a:r>
          </a:p>
          <a:p>
            <a:pPr>
              <a:spcAft>
                <a:spcPts val="1000"/>
              </a:spcAft>
              <a:defRPr sz="1800"/>
            </a:pPr>
            <a:r>
              <a:t>  • Real-world applicability</a:t>
            </a:r>
          </a:p>
          <a:p>
            <a:pPr>
              <a:spcAft>
                <a:spcPts val="1000"/>
              </a:spcAft>
              <a:defRPr sz="1800"/>
            </a:pPr>
            <a:r>
              <a:t>  • Comprehensive testing</a:t>
            </a:r>
          </a:p>
          <a:p>
            <a:pPr>
              <a:spcAft>
                <a:spcPts val="1000"/>
              </a:spcAft>
              <a:defRPr sz="1800"/>
            </a:pPr>
            <a:r>
              <a:t>  • Scalable architecture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Impact:</a:t>
            </a:r>
          </a:p>
          <a:p>
            <a:pPr>
              <a:spcAft>
                <a:spcPts val="1000"/>
              </a:spcAft>
              <a:defRPr sz="1800"/>
            </a:pPr>
            <a:r>
              <a:t>  • Enhanced digital security</a:t>
            </a:r>
          </a:p>
          <a:p>
            <a:pPr>
              <a:spcAft>
                <a:spcPts val="1000"/>
              </a:spcAft>
              <a:defRPr sz="1800"/>
            </a:pPr>
            <a:r>
              <a:t>  • Accessible threat detection tools</a:t>
            </a:r>
          </a:p>
          <a:p>
            <a:pPr>
              <a:spcAft>
                <a:spcPts val="1000"/>
              </a:spcAft>
              <a:defRPr sz="1800"/>
            </a:pPr>
            <a:r>
              <a:t>  • Platform for future AI developments</a:t>
            </a:r>
          </a:p>
          <a:p>
            <a:pPr>
              <a:spcAft>
                <a:spcPts val="1000"/>
              </a:spcAft>
              <a:defRPr sz="1800"/>
            </a:pPr>
            <a:r>
              <a:t>  • Strong portfolio project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CyberShield AI - Making Digital Spaces Safer Through AI</a:t>
            </a:r>
          </a:p>
          <a:p/>
          <a:p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Contact: [team@cybershield.ai] | GitHub: [github.com/cybershield-ai] | Project: CyberShield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